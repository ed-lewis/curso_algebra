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22" r:id="rId2"/>
    <p:sldId id="518" r:id="rId3"/>
    <p:sldId id="531" r:id="rId4"/>
    <p:sldId id="535" r:id="rId5"/>
    <p:sldId id="532" r:id="rId6"/>
    <p:sldId id="533" r:id="rId7"/>
    <p:sldId id="517" r:id="rId8"/>
    <p:sldId id="534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iano" initials="L" lastIdx="1" clrIdx="0">
    <p:extLst>
      <p:ext uri="{19B8F6BF-5375-455C-9EA6-DF929625EA0E}">
        <p15:presenceInfo xmlns:p15="http://schemas.microsoft.com/office/powerpoint/2012/main" userId="Lucian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A4570-81C0-423A-94B3-0CEBDFB059A9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43B3C-6B56-4DB9-B8C5-7AAFDCBAF5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20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43B3C-6B56-4DB9-B8C5-7AAFDCBAF55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986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43B3C-6B56-4DB9-B8C5-7AAFDCBAF55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2221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94466-33D4-4291-AEAB-7DF595163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AFC2AE-93AC-4680-8E7C-B02CB197C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154236-9168-49B8-BC9E-CF41B465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80C4A-8AD4-4FC6-87E9-7CA1E027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D231B-0F56-44C4-B2A7-1017698E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9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9ADD8-0B53-44E3-92A7-75C9F828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1DEF2-57B0-4E4C-A2FD-A9EDE6335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D92E1-EF5F-4177-A65B-65AEBAEE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E87010-2C39-4AEB-833C-16B0EC62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9898AF-588A-4892-968A-ABFE954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75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E29DB-B9F1-41DF-B604-5533FBFA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D8C934-FDC0-453A-8B03-CC1845C05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5B5CD-2E6D-4712-80D9-8422C114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2413D-C958-4F78-AA2D-365AF04A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7B3E4D-6BA3-4415-80D5-E0BCFD12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65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B79B8-5798-415F-BEC8-9449C876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B6D46B-F31B-437E-87AA-879EC0AF6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B5E6E9-120E-4119-AE60-B175FF9EC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C1CA78-AA2E-41D6-960B-5CA60B18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369B28-2C38-4790-901C-7239BAE9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F6621F-49FD-45A9-9381-8E9B565A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06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ACFB2-05E5-469A-A221-C2450C85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DAA59-8B01-4D64-97B7-10AD559C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3C0BDC-4F4F-487F-8C55-53A0A38A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57F3EA-1617-4594-9736-18B1B044F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CA8F34-5316-4F01-A2C0-0FCA26766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363F45-C4D4-4493-B200-8C67BB65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B3CF5C-3D4B-436D-B1A6-32BA1BE3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D19D8B8-B300-4377-B784-45CB3069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29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AE2E9-6B3C-4ABC-9168-0A9FFCEF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F18D2-3152-4968-BE18-2527E67A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9F55EA-76D4-486C-849A-4A762B56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22ED98-7ABE-4270-AAD6-645A1E27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21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FDF1FEE-8714-458A-9236-55AB851A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128630-B400-439D-8FD6-7C95A082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60FDC8-5046-4D4E-943D-51AF3235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01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91A1F-51B4-4ABB-AF32-A3634206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694D5-0149-432D-8B95-6BBAE349C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B68A95-224F-465C-ACEB-E0FFE218A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B8D33D-ED48-4F75-94FB-EB701647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3D3291-E87E-4E1F-BA75-9AB958BC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882FF1-8A36-448A-BC6E-EC64D4B6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2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A6073-6014-4043-BE2D-20BCF986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DE7003-D0E2-45C3-B9E0-5E71D21EB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46E02D-B33F-4063-A944-75D22F25A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FBA53E-5280-4F19-B9EC-13EDF7B0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0BC751-C1C0-4F88-A020-0831D9CB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D7C60B-9C74-4FEB-90BB-282213C8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97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56574-CF26-47C8-AF0C-B847C3C2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7281DF-1488-4181-96DB-4AFD3564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D7EBF4-DB7E-4E9B-B749-26975E99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ACBE3-FF6F-4046-BBFB-4F79F33A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47086A-B25A-44EE-AD4B-E1110441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0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1BA9F9-8E36-4035-A04B-03BBC8982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F3AD45-D5F8-44FD-928C-BF99F8B8B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67D66E-2272-43D1-9940-95CD6F89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7757E6-72B0-469C-A808-56DC2907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CD322F-100D-4FCE-AE9A-92BAA82C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4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33705E-AD18-46DB-9B9E-463034FF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0CB9AC-6007-4C88-A0E9-4E131A21D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962D1-C7EF-48E8-80E5-524E61215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0CF00F-0B12-4CCE-9938-ACF09688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9F014-1BA4-4394-9471-4FCFAAC66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32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5557BD11-BE61-4B7E-A186-5BABFFC88603}"/>
              </a:ext>
            </a:extLst>
          </p:cNvPr>
          <p:cNvSpPr txBox="1">
            <a:spLocks/>
          </p:cNvSpPr>
          <p:nvPr/>
        </p:nvSpPr>
        <p:spPr>
          <a:xfrm>
            <a:off x="927315" y="5437166"/>
            <a:ext cx="10337369" cy="536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Prof. Luciano Galdino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5341CB5-B20A-43F7-AD92-D8444021F427}"/>
              </a:ext>
            </a:extLst>
          </p:cNvPr>
          <p:cNvSpPr txBox="1">
            <a:spLocks/>
          </p:cNvSpPr>
          <p:nvPr/>
        </p:nvSpPr>
        <p:spPr>
          <a:xfrm>
            <a:off x="0" y="1612482"/>
            <a:ext cx="12192000" cy="31792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4900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Álgebra Linear com Python para </a:t>
            </a:r>
            <a:r>
              <a:rPr lang="pt-BR" sz="49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</a:t>
            </a: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Learning e Modelagem Matemática</a:t>
            </a:r>
            <a:endParaRPr lang="pt-BR" sz="4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5300" b="1" dirty="0"/>
          </a:p>
        </p:txBody>
      </p:sp>
    </p:spTree>
    <p:extLst>
      <p:ext uri="{BB962C8B-B14F-4D97-AF65-F5344CB8AC3E}">
        <p14:creationId xmlns:p14="http://schemas.microsoft.com/office/powerpoint/2010/main" val="428901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17">
            <a:extLst>
              <a:ext uri="{FF2B5EF4-FFF2-40B4-BE49-F238E27FC236}">
                <a16:creationId xmlns:a16="http://schemas.microsoft.com/office/drawing/2014/main" id="{C3F7B9DE-91BD-4034-9830-CF1B29524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727" y="204346"/>
            <a:ext cx="10818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Autovetor e Autovalor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11">
                <a:extLst>
                  <a:ext uri="{FF2B5EF4-FFF2-40B4-BE49-F238E27FC236}">
                    <a16:creationId xmlns:a16="http://schemas.microsoft.com/office/drawing/2014/main" id="{36104360-B793-4A08-A80E-435984F47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360" y="925704"/>
                <a:ext cx="11224790" cy="9543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defTabSz="801688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801688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801688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801688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801688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801688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801688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801688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801688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"/>
                  </a:spcBef>
                  <a:spcAft>
                    <a:spcPct val="5000"/>
                  </a:spcAft>
                </a:pPr>
                <a:r>
                  <a:rPr lang="pt-BR" altLang="pt-BR" sz="2801" dirty="0"/>
                  <a:t>Tendo uma transformação linear </a:t>
                </a:r>
                <a:r>
                  <a:rPr lang="pt-BR" altLang="pt-BR" sz="2801" b="1" dirty="0"/>
                  <a:t>(T)</a:t>
                </a:r>
                <a:r>
                  <a:rPr lang="pt-BR" altLang="pt-BR" sz="2801" dirty="0"/>
                  <a:t>, então um vetor </a:t>
                </a:r>
                <a:r>
                  <a:rPr lang="pt-BR" altLang="pt-BR" sz="2801" b="1" dirty="0"/>
                  <a:t>(v)</a:t>
                </a:r>
                <a:r>
                  <a:rPr lang="pt-BR" altLang="pt-BR" sz="2801" dirty="0"/>
                  <a:t> não nulo é um autovetor de T se existir um número (escalar)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800" b="1" dirty="0"/>
                      <m:t>λ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altLang="pt-BR" sz="2801" dirty="0"/>
                  <a:t> tal que:</a:t>
                </a:r>
              </a:p>
            </p:txBody>
          </p:sp>
        </mc:Choice>
        <mc:Fallback>
          <p:sp>
            <p:nvSpPr>
              <p:cNvPr id="8" name="Rectangle 11">
                <a:extLst>
                  <a:ext uri="{FF2B5EF4-FFF2-40B4-BE49-F238E27FC236}">
                    <a16:creationId xmlns:a16="http://schemas.microsoft.com/office/drawing/2014/main" id="{36104360-B793-4A08-A80E-435984F47A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360" y="925704"/>
                <a:ext cx="11224790" cy="954364"/>
              </a:xfrm>
              <a:prstGeom prst="rect">
                <a:avLst/>
              </a:prstGeom>
              <a:blipFill>
                <a:blip r:embed="rId2"/>
                <a:stretch>
                  <a:fillRect l="-1141" t="-7051" b="-173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1B30242-623D-4311-9A98-CE978B3D7D74}"/>
                  </a:ext>
                </a:extLst>
              </p:cNvPr>
              <p:cNvSpPr txBox="1"/>
              <p:nvPr/>
            </p:nvSpPr>
            <p:spPr>
              <a:xfrm>
                <a:off x="2152847" y="2233498"/>
                <a:ext cx="231779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600" b="0" i="1" smtClean="0">
                          <a:latin typeface="Cambria Math" panose="02040503050406030204" pitchFamily="18" charset="0"/>
                        </a:rPr>
                        <m:t>𝑇𝑣</m:t>
                      </m:r>
                      <m:r>
                        <a:rPr lang="pt-B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l-GR" sz="3600" dirty="0"/>
                        <m:t>λ</m:t>
                      </m:r>
                      <m:r>
                        <a:rPr lang="pt-BR" sz="3600" b="0" i="1" dirty="0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1B30242-623D-4311-9A98-CE978B3D7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847" y="2233498"/>
                <a:ext cx="231779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4496BC7-36FF-468E-95A3-90048D236BEB}"/>
              </a:ext>
            </a:extLst>
          </p:cNvPr>
          <p:cNvCxnSpPr/>
          <p:nvPr/>
        </p:nvCxnSpPr>
        <p:spPr>
          <a:xfrm flipH="1">
            <a:off x="2152847" y="2756576"/>
            <a:ext cx="731520" cy="7814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5EAD31EC-11A7-4AA4-8568-7FE06B1CE985}"/>
              </a:ext>
            </a:extLst>
          </p:cNvPr>
          <p:cNvCxnSpPr>
            <a:cxnSpLocks/>
          </p:cNvCxnSpPr>
          <p:nvPr/>
        </p:nvCxnSpPr>
        <p:spPr>
          <a:xfrm>
            <a:off x="4043265" y="2756576"/>
            <a:ext cx="754966" cy="7814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21B214D6-6540-4504-9A4C-0521BB0CD1F9}"/>
              </a:ext>
            </a:extLst>
          </p:cNvPr>
          <p:cNvCxnSpPr>
            <a:cxnSpLocks/>
          </p:cNvCxnSpPr>
          <p:nvPr/>
        </p:nvCxnSpPr>
        <p:spPr>
          <a:xfrm flipH="1">
            <a:off x="3248725" y="2756576"/>
            <a:ext cx="427380" cy="14198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1">
            <a:extLst>
              <a:ext uri="{FF2B5EF4-FFF2-40B4-BE49-F238E27FC236}">
                <a16:creationId xmlns:a16="http://schemas.microsoft.com/office/drawing/2014/main" id="{BB2684CF-8BB0-4E40-BB9E-3928A2186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63" y="3538064"/>
            <a:ext cx="16848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Autovetor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DB9EA8A8-7C37-4E21-970D-28FA4C6A0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731" y="3554635"/>
            <a:ext cx="16848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Autovetor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F7D5AFB7-5A47-4119-B248-F012C742A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6012" y="4151829"/>
            <a:ext cx="33692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Autovalor (associado ao autovetor)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CAAB14A8-6FBC-46D9-90BC-31FF183FCED0}"/>
                  </a:ext>
                </a:extLst>
              </p:cNvPr>
              <p:cNvSpPr txBox="1"/>
              <p:nvPr/>
            </p:nvSpPr>
            <p:spPr>
              <a:xfrm>
                <a:off x="6798446" y="3054707"/>
                <a:ext cx="4322137" cy="8235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CAAB14A8-6FBC-46D9-90BC-31FF183FC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446" y="3054707"/>
                <a:ext cx="4322137" cy="8235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1">
            <a:extLst>
              <a:ext uri="{FF2B5EF4-FFF2-40B4-BE49-F238E27FC236}">
                <a16:creationId xmlns:a16="http://schemas.microsoft.com/office/drawing/2014/main" id="{2C40AA15-D5F5-40AA-93B4-1DCE9BA9F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60" y="5120160"/>
            <a:ext cx="10901486" cy="1428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pt-BR" altLang="pt-BR" sz="2801" dirty="0"/>
              <a:t>Auxilia no entendimento das transformações lineares.</a:t>
            </a:r>
          </a:p>
          <a:p>
            <a:pPr marL="457200" indent="-457200" eaLnBrk="1" hangingPunct="1"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pt-BR" altLang="pt-BR" sz="2801" dirty="0"/>
              <a:t>Diversas aplicações em Modelagens matemáticas e algoritmos de </a:t>
            </a:r>
            <a:r>
              <a:rPr lang="pt-BR" altLang="pt-BR" sz="2801" dirty="0" err="1"/>
              <a:t>Machine</a:t>
            </a:r>
            <a:r>
              <a:rPr lang="pt-BR" altLang="pt-BR" sz="2801" dirty="0"/>
              <a:t> Learning.</a:t>
            </a:r>
          </a:p>
        </p:txBody>
      </p:sp>
    </p:spTree>
    <p:extLst>
      <p:ext uri="{BB962C8B-B14F-4D97-AF65-F5344CB8AC3E}">
        <p14:creationId xmlns:p14="http://schemas.microsoft.com/office/powerpoint/2010/main" val="269949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CAAB14A8-6FBC-46D9-90BC-31FF183FCED0}"/>
                  </a:ext>
                </a:extLst>
              </p:cNvPr>
              <p:cNvSpPr txBox="1"/>
              <p:nvPr/>
            </p:nvSpPr>
            <p:spPr>
              <a:xfrm>
                <a:off x="1292632" y="807250"/>
                <a:ext cx="3817170" cy="718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CAAB14A8-6FBC-46D9-90BC-31FF183FC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632" y="807250"/>
                <a:ext cx="3817170" cy="7184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BC81451B-5A37-43D9-A5D6-259A4C056E23}"/>
                  </a:ext>
                </a:extLst>
              </p:cNvPr>
              <p:cNvSpPr txBox="1"/>
              <p:nvPr/>
            </p:nvSpPr>
            <p:spPr>
              <a:xfrm>
                <a:off x="1382560" y="2008877"/>
                <a:ext cx="3817170" cy="718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BC81451B-5A37-43D9-A5D6-259A4C056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560" y="2008877"/>
                <a:ext cx="3817170" cy="7184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2BEFF126-B62A-47CC-84B2-515FB5081D98}"/>
              </a:ext>
            </a:extLst>
          </p:cNvPr>
          <p:cNvCxnSpPr/>
          <p:nvPr/>
        </p:nvCxnSpPr>
        <p:spPr>
          <a:xfrm flipH="1">
            <a:off x="2469697" y="2795107"/>
            <a:ext cx="731520" cy="7814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83A646B-E0C3-4712-96A3-56E8A1367499}"/>
              </a:ext>
            </a:extLst>
          </p:cNvPr>
          <p:cNvCxnSpPr>
            <a:cxnSpLocks/>
          </p:cNvCxnSpPr>
          <p:nvPr/>
        </p:nvCxnSpPr>
        <p:spPr>
          <a:xfrm>
            <a:off x="4552659" y="2795107"/>
            <a:ext cx="754966" cy="7814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67081F84-1B0A-4013-97EA-83235D706DF6}"/>
              </a:ext>
            </a:extLst>
          </p:cNvPr>
          <p:cNvCxnSpPr>
            <a:cxnSpLocks/>
          </p:cNvCxnSpPr>
          <p:nvPr/>
        </p:nvCxnSpPr>
        <p:spPr>
          <a:xfrm flipH="1">
            <a:off x="3565575" y="2534668"/>
            <a:ext cx="471854" cy="16802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11">
            <a:extLst>
              <a:ext uri="{FF2B5EF4-FFF2-40B4-BE49-F238E27FC236}">
                <a16:creationId xmlns:a16="http://schemas.microsoft.com/office/drawing/2014/main" id="{278EB1F0-DC14-4A46-AB22-DA040D14E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743" y="3576595"/>
            <a:ext cx="16848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Autovetor</a:t>
            </a: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B905AB9-7984-4896-9645-2C4045FF8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540" y="3576595"/>
            <a:ext cx="16848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Autovetor</a:t>
            </a: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0CAE42DE-8B56-46E6-ADB4-AA30EC773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859" y="4214929"/>
            <a:ext cx="33692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Autovalor (associado ao autovetor)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96104246-2DAC-46F9-BF0F-0233FF734EDF}"/>
                  </a:ext>
                </a:extLst>
              </p:cNvPr>
              <p:cNvSpPr txBox="1"/>
              <p:nvPr/>
            </p:nvSpPr>
            <p:spPr>
              <a:xfrm>
                <a:off x="6220444" y="1969767"/>
                <a:ext cx="4322137" cy="8235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96104246-2DAC-46F9-BF0F-0233FF734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444" y="1969767"/>
                <a:ext cx="4322137" cy="8235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11">
            <a:extLst>
              <a:ext uri="{FF2B5EF4-FFF2-40B4-BE49-F238E27FC236}">
                <a16:creationId xmlns:a16="http://schemas.microsoft.com/office/drawing/2014/main" id="{2C414934-AC0A-4BAC-B075-BC2EA8009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6955" y="5603628"/>
            <a:ext cx="7722805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 err="1"/>
              <a:t>Obs</a:t>
            </a:r>
            <a:r>
              <a:rPr lang="pt-BR" altLang="pt-BR" sz="2801" dirty="0"/>
              <a:t>: Matriz T deve ser quadrada</a:t>
            </a:r>
          </a:p>
        </p:txBody>
      </p:sp>
    </p:spTree>
    <p:extLst>
      <p:ext uri="{BB962C8B-B14F-4D97-AF65-F5344CB8AC3E}">
        <p14:creationId xmlns:p14="http://schemas.microsoft.com/office/powerpoint/2010/main" val="5707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2" grpId="0"/>
      <p:bldP spid="24" grpId="0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CAAB14A8-6FBC-46D9-90BC-31FF183FCED0}"/>
                  </a:ext>
                </a:extLst>
              </p:cNvPr>
              <p:cNvSpPr txBox="1"/>
              <p:nvPr/>
            </p:nvSpPr>
            <p:spPr>
              <a:xfrm>
                <a:off x="1292632" y="807250"/>
                <a:ext cx="3817170" cy="718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CAAB14A8-6FBC-46D9-90BC-31FF183FC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632" y="807250"/>
                <a:ext cx="3817170" cy="7184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BC81451B-5A37-43D9-A5D6-259A4C056E23}"/>
                  </a:ext>
                </a:extLst>
              </p:cNvPr>
              <p:cNvSpPr txBox="1"/>
              <p:nvPr/>
            </p:nvSpPr>
            <p:spPr>
              <a:xfrm>
                <a:off x="1382560" y="2008877"/>
                <a:ext cx="3817170" cy="718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BC81451B-5A37-43D9-A5D6-259A4C056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560" y="2008877"/>
                <a:ext cx="3817170" cy="7184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2BEFF126-B62A-47CC-84B2-515FB5081D98}"/>
              </a:ext>
            </a:extLst>
          </p:cNvPr>
          <p:cNvCxnSpPr/>
          <p:nvPr/>
        </p:nvCxnSpPr>
        <p:spPr>
          <a:xfrm flipH="1">
            <a:off x="2469697" y="2795107"/>
            <a:ext cx="731520" cy="7814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83A646B-E0C3-4712-96A3-56E8A1367499}"/>
              </a:ext>
            </a:extLst>
          </p:cNvPr>
          <p:cNvCxnSpPr>
            <a:cxnSpLocks/>
          </p:cNvCxnSpPr>
          <p:nvPr/>
        </p:nvCxnSpPr>
        <p:spPr>
          <a:xfrm>
            <a:off x="4552659" y="2795107"/>
            <a:ext cx="754966" cy="7814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67081F84-1B0A-4013-97EA-83235D706DF6}"/>
              </a:ext>
            </a:extLst>
          </p:cNvPr>
          <p:cNvCxnSpPr>
            <a:cxnSpLocks/>
          </p:cNvCxnSpPr>
          <p:nvPr/>
        </p:nvCxnSpPr>
        <p:spPr>
          <a:xfrm flipH="1">
            <a:off x="3565575" y="2534668"/>
            <a:ext cx="471854" cy="16802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11">
            <a:extLst>
              <a:ext uri="{FF2B5EF4-FFF2-40B4-BE49-F238E27FC236}">
                <a16:creationId xmlns:a16="http://schemas.microsoft.com/office/drawing/2014/main" id="{278EB1F0-DC14-4A46-AB22-DA040D14E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743" y="3576595"/>
            <a:ext cx="16848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Autovetor</a:t>
            </a: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B905AB9-7984-4896-9645-2C4045FF8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540" y="3576595"/>
            <a:ext cx="16848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Autovetor</a:t>
            </a: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0CAE42DE-8B56-46E6-ADB4-AA30EC773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859" y="4214929"/>
            <a:ext cx="33692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Autovalor (associado ao autovetor)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96104246-2DAC-46F9-BF0F-0233FF734EDF}"/>
                  </a:ext>
                </a:extLst>
              </p:cNvPr>
              <p:cNvSpPr txBox="1"/>
              <p:nvPr/>
            </p:nvSpPr>
            <p:spPr>
              <a:xfrm>
                <a:off x="6220444" y="1969767"/>
                <a:ext cx="4322137" cy="8235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96104246-2DAC-46F9-BF0F-0233FF734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444" y="1969767"/>
                <a:ext cx="4322137" cy="8235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11">
            <a:extLst>
              <a:ext uri="{FF2B5EF4-FFF2-40B4-BE49-F238E27FC236}">
                <a16:creationId xmlns:a16="http://schemas.microsoft.com/office/drawing/2014/main" id="{2C414934-AC0A-4BAC-B075-BC2EA8009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6955" y="5603628"/>
            <a:ext cx="7722805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Observações: Matriz T deve ser quadrada</a:t>
            </a:r>
          </a:p>
        </p:txBody>
      </p:sp>
    </p:spTree>
    <p:extLst>
      <p:ext uri="{BB962C8B-B14F-4D97-AF65-F5344CB8AC3E}">
        <p14:creationId xmlns:p14="http://schemas.microsoft.com/office/powerpoint/2010/main" val="51400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2" grpId="0"/>
      <p:bldP spid="24" grpId="0"/>
      <p:bldP spid="25" grpId="0"/>
      <p:bldP spid="26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CAAB14A8-6FBC-46D9-90BC-31FF183FCED0}"/>
                  </a:ext>
                </a:extLst>
              </p:cNvPr>
              <p:cNvSpPr txBox="1"/>
              <p:nvPr/>
            </p:nvSpPr>
            <p:spPr>
              <a:xfrm>
                <a:off x="223857" y="1350491"/>
                <a:ext cx="3817170" cy="720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CAAB14A8-6FBC-46D9-90BC-31FF183FC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57" y="1350491"/>
                <a:ext cx="3817170" cy="7205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1">
            <a:extLst>
              <a:ext uri="{FF2B5EF4-FFF2-40B4-BE49-F238E27FC236}">
                <a16:creationId xmlns:a16="http://schemas.microsoft.com/office/drawing/2014/main" id="{829985C5-82DB-4497-A6DE-0763F38D8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145" y="331322"/>
            <a:ext cx="9740743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b="1" dirty="0"/>
              <a:t>Cálculo para encontrar os autovalores e autovetores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8253BB4A-DC4E-4626-9A91-BE14B5A60CFE}"/>
                  </a:ext>
                </a:extLst>
              </p:cNvPr>
              <p:cNvSpPr txBox="1"/>
              <p:nvPr/>
            </p:nvSpPr>
            <p:spPr>
              <a:xfrm>
                <a:off x="223857" y="2386748"/>
                <a:ext cx="4559533" cy="720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8253BB4A-DC4E-4626-9A91-BE14B5A60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57" y="2386748"/>
                <a:ext cx="4559533" cy="720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AECC8C3B-5DCF-414A-BEC9-34152D5491FC}"/>
                  </a:ext>
                </a:extLst>
              </p:cNvPr>
              <p:cNvSpPr txBox="1"/>
              <p:nvPr/>
            </p:nvSpPr>
            <p:spPr>
              <a:xfrm>
                <a:off x="370358" y="3447013"/>
                <a:ext cx="5502069" cy="720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AECC8C3B-5DCF-414A-BEC9-34152D549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58" y="3447013"/>
                <a:ext cx="5502069" cy="7205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523D2AC0-83DD-4B1A-81FD-540AFEECFE8C}"/>
                  </a:ext>
                </a:extLst>
              </p:cNvPr>
              <p:cNvSpPr txBox="1"/>
              <p:nvPr/>
            </p:nvSpPr>
            <p:spPr>
              <a:xfrm>
                <a:off x="223857" y="4484796"/>
                <a:ext cx="5502069" cy="727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l-GR" sz="2800" i="1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l-GR" sz="2800" i="1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523D2AC0-83DD-4B1A-81FD-540AFEECF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57" y="4484796"/>
                <a:ext cx="5502069" cy="7272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9449FD27-48A5-41A7-BA20-0607D7438572}"/>
                  </a:ext>
                </a:extLst>
              </p:cNvPr>
              <p:cNvSpPr txBox="1"/>
              <p:nvPr/>
            </p:nvSpPr>
            <p:spPr>
              <a:xfrm>
                <a:off x="1308597" y="5529247"/>
                <a:ext cx="4288439" cy="727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2800" i="1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−1−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2800" i="1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9449FD27-48A5-41A7-BA20-0607D7438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597" y="5529247"/>
                <a:ext cx="4288439" cy="7272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B485B163-ED46-4751-A7D2-D888AB990A2F}"/>
                  </a:ext>
                </a:extLst>
              </p:cNvPr>
              <p:cNvSpPr txBox="1"/>
              <p:nvPr/>
            </p:nvSpPr>
            <p:spPr>
              <a:xfrm>
                <a:off x="6961465" y="1184097"/>
                <a:ext cx="4288439" cy="727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𝑝𝑜𝑑𝑒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𝑠𝑒𝑟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𝑛𝑢𝑙𝑜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B485B163-ED46-4751-A7D2-D888AB990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465" y="1184097"/>
                <a:ext cx="4288439" cy="7272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962A6426-4F73-4B74-9C21-151A776F7F6F}"/>
                  </a:ext>
                </a:extLst>
              </p:cNvPr>
              <p:cNvSpPr txBox="1"/>
              <p:nvPr/>
            </p:nvSpPr>
            <p:spPr>
              <a:xfrm>
                <a:off x="6961465" y="2150793"/>
                <a:ext cx="4288439" cy="727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𝑑𝑒𝑡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2800" i="1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−1−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2800" i="1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962A6426-4F73-4B74-9C21-151A776F7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465" y="2150793"/>
                <a:ext cx="4288439" cy="7272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3F160290-1CCE-489D-982F-5D2320AE8137}"/>
                  </a:ext>
                </a:extLst>
              </p:cNvPr>
              <p:cNvSpPr txBox="1"/>
              <p:nvPr/>
            </p:nvSpPr>
            <p:spPr>
              <a:xfrm>
                <a:off x="6927609" y="3120863"/>
                <a:ext cx="428843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pt-BR" sz="28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</m:d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−1−</m:t>
                          </m:r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+6=0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3F160290-1CCE-489D-982F-5D2320AE8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609" y="3120863"/>
                <a:ext cx="4288439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A139051E-16F3-4FDF-B48F-BCFCEA63DE0D}"/>
                  </a:ext>
                </a:extLst>
              </p:cNvPr>
              <p:cNvSpPr txBox="1"/>
              <p:nvPr/>
            </p:nvSpPr>
            <p:spPr>
              <a:xfrm>
                <a:off x="7128444" y="3963151"/>
                <a:ext cx="281558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l-GR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A139051E-16F3-4FDF-B48F-BCFCEA63D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444" y="3963151"/>
                <a:ext cx="281558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1B6999F7-2AF3-4856-B542-6F5D688EEF17}"/>
                  </a:ext>
                </a:extLst>
              </p:cNvPr>
              <p:cNvSpPr txBox="1"/>
              <p:nvPr/>
            </p:nvSpPr>
            <p:spPr>
              <a:xfrm>
                <a:off x="7361881" y="4764640"/>
                <a:ext cx="1338473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1B6999F7-2AF3-4856-B542-6F5D688EE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881" y="4764640"/>
                <a:ext cx="133847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85241C61-FC93-4BD5-850A-F7DBFCE5C381}"/>
                  </a:ext>
                </a:extLst>
              </p:cNvPr>
              <p:cNvSpPr txBox="1"/>
              <p:nvPr/>
            </p:nvSpPr>
            <p:spPr>
              <a:xfrm>
                <a:off x="9381847" y="4764640"/>
                <a:ext cx="1338473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85241C61-FC93-4BD5-850A-F7DBFCE5C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1847" y="4764640"/>
                <a:ext cx="1338473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027A04A9-429E-428C-BF2F-56BAFF6BB82B}"/>
              </a:ext>
            </a:extLst>
          </p:cNvPr>
          <p:cNvCxnSpPr>
            <a:stCxn id="16" idx="3"/>
          </p:cNvCxnSpPr>
          <p:nvPr/>
        </p:nvCxnSpPr>
        <p:spPr>
          <a:xfrm flipV="1">
            <a:off x="5597036" y="1710782"/>
            <a:ext cx="1547309" cy="41820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1771390-5486-4EAA-84E8-8ABA568097A1}"/>
                  </a:ext>
                </a:extLst>
              </p:cNvPr>
              <p:cNvSpPr txBox="1"/>
              <p:nvPr/>
            </p:nvSpPr>
            <p:spPr>
              <a:xfrm>
                <a:off x="7626591" y="5864187"/>
                <a:ext cx="2741297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1771390-5486-4EAA-84E8-8ABA56809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591" y="5864187"/>
                <a:ext cx="2741297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881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3" grpId="0"/>
      <p:bldP spid="14" grpId="0"/>
      <p:bldP spid="15" grpId="0"/>
      <p:bldP spid="16" grpId="0"/>
      <p:bldP spid="17" grpId="0"/>
      <p:bldP spid="23" grpId="0"/>
      <p:bldP spid="27" grpId="0"/>
      <p:bldP spid="28" grpId="0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1">
            <a:extLst>
              <a:ext uri="{FF2B5EF4-FFF2-40B4-BE49-F238E27FC236}">
                <a16:creationId xmlns:a16="http://schemas.microsoft.com/office/drawing/2014/main" id="{829985C5-82DB-4497-A6DE-0763F38D8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5441" y="261226"/>
            <a:ext cx="9417187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Cálculo para encontrar os autovalores e autovetores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9449FD27-48A5-41A7-BA20-0607D7438572}"/>
                  </a:ext>
                </a:extLst>
              </p:cNvPr>
              <p:cNvSpPr txBox="1"/>
              <p:nvPr/>
            </p:nvSpPr>
            <p:spPr>
              <a:xfrm>
                <a:off x="936638" y="1184097"/>
                <a:ext cx="4288439" cy="727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2800" i="1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−1−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2800" i="1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9449FD27-48A5-41A7-BA20-0607D7438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38" y="1184097"/>
                <a:ext cx="4288439" cy="7272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A139051E-16F3-4FDF-B48F-BCFCEA63DE0D}"/>
                  </a:ext>
                </a:extLst>
              </p:cNvPr>
              <p:cNvSpPr txBox="1"/>
              <p:nvPr/>
            </p:nvSpPr>
            <p:spPr>
              <a:xfrm>
                <a:off x="1035113" y="4171805"/>
                <a:ext cx="201758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800" b="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A139051E-16F3-4FDF-B48F-BCFCEA63D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13" y="4171805"/>
                <a:ext cx="201758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1B6999F7-2AF3-4856-B542-6F5D688EEF17}"/>
                  </a:ext>
                </a:extLst>
              </p:cNvPr>
              <p:cNvSpPr txBox="1"/>
              <p:nvPr/>
            </p:nvSpPr>
            <p:spPr>
              <a:xfrm>
                <a:off x="265275" y="2177214"/>
                <a:ext cx="281558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=1: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1B6999F7-2AF3-4856-B542-6F5D688EE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75" y="2177214"/>
                <a:ext cx="281558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85241C61-FC93-4BD5-850A-F7DBFCE5C381}"/>
                  </a:ext>
                </a:extLst>
              </p:cNvPr>
              <p:cNvSpPr txBox="1"/>
              <p:nvPr/>
            </p:nvSpPr>
            <p:spPr>
              <a:xfrm>
                <a:off x="6806720" y="2185113"/>
                <a:ext cx="126810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85241C61-FC93-4BD5-850A-F7DBFCE5C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720" y="2185113"/>
                <a:ext cx="126810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F2AE9B39-E3FB-45D0-BE3A-C253F7BEEB05}"/>
                  </a:ext>
                </a:extLst>
              </p:cNvPr>
              <p:cNvSpPr txBox="1"/>
              <p:nvPr/>
            </p:nvSpPr>
            <p:spPr>
              <a:xfrm>
                <a:off x="936637" y="3065375"/>
                <a:ext cx="4288439" cy="727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F2AE9B39-E3FB-45D0-BE3A-C253F7BEE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37" y="3065375"/>
                <a:ext cx="4288439" cy="7272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AA6A62B1-B3F9-44DC-A7A3-5F4A02B6261B}"/>
                  </a:ext>
                </a:extLst>
              </p:cNvPr>
              <p:cNvSpPr txBox="1"/>
              <p:nvPr/>
            </p:nvSpPr>
            <p:spPr>
              <a:xfrm>
                <a:off x="1035112" y="4785741"/>
                <a:ext cx="201758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800" b="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AA6A62B1-B3F9-44DC-A7A3-5F4A02B62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12" y="4785741"/>
                <a:ext cx="201758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F31BC440-FD5D-4CDD-8457-31AC4209E9FA}"/>
                  </a:ext>
                </a:extLst>
              </p:cNvPr>
              <p:cNvSpPr txBox="1"/>
              <p:nvPr/>
            </p:nvSpPr>
            <p:spPr>
              <a:xfrm>
                <a:off x="1035112" y="5378369"/>
                <a:ext cx="1201651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pt-BR" sz="2800" b="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F31BC440-FD5D-4CDD-8457-31AC4209E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12" y="5378369"/>
                <a:ext cx="1201651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9D7792E-D1F0-43C2-BAC5-7A5FC49B9B08}"/>
                  </a:ext>
                </a:extLst>
              </p:cNvPr>
              <p:cNvSpPr txBox="1"/>
              <p:nvPr/>
            </p:nvSpPr>
            <p:spPr>
              <a:xfrm>
                <a:off x="6877059" y="4135755"/>
                <a:ext cx="201758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800" b="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9D7792E-D1F0-43C2-BAC5-7A5FC49B9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059" y="4135755"/>
                <a:ext cx="2017581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EF73C39-C74C-47FE-A391-8181EF06815D}"/>
                  </a:ext>
                </a:extLst>
              </p:cNvPr>
              <p:cNvSpPr txBox="1"/>
              <p:nvPr/>
            </p:nvSpPr>
            <p:spPr>
              <a:xfrm>
                <a:off x="6806720" y="3047429"/>
                <a:ext cx="4288439" cy="727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EF73C39-C74C-47FE-A391-8181EF068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720" y="3047429"/>
                <a:ext cx="4288439" cy="7272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8B0959AD-4C9A-4F58-971E-BF362774164A}"/>
                  </a:ext>
                </a:extLst>
              </p:cNvPr>
              <p:cNvSpPr txBox="1"/>
              <p:nvPr/>
            </p:nvSpPr>
            <p:spPr>
              <a:xfrm>
                <a:off x="6877059" y="4758220"/>
                <a:ext cx="201758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800" b="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8B0959AD-4C9A-4F58-971E-BF3627741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059" y="4758220"/>
                <a:ext cx="201758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8FFDE314-962A-47EC-9B4B-993CF0DB2776}"/>
                  </a:ext>
                </a:extLst>
              </p:cNvPr>
              <p:cNvSpPr txBox="1"/>
              <p:nvPr/>
            </p:nvSpPr>
            <p:spPr>
              <a:xfrm>
                <a:off x="6806720" y="5380686"/>
                <a:ext cx="1530273" cy="80663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pt-BR" sz="2800" b="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8FFDE314-962A-47EC-9B4B-993CF0DB2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720" y="5380686"/>
                <a:ext cx="1530273" cy="8066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79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19" grpId="0"/>
      <p:bldP spid="20" grpId="0"/>
      <p:bldP spid="21" grpId="0" animBg="1"/>
      <p:bldP spid="22" grpId="0"/>
      <p:bldP spid="24" grpId="0"/>
      <p:bldP spid="25" grpId="0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23040244-C023-41DA-82BF-9529AC044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465" y="1154721"/>
            <a:ext cx="5744601" cy="45389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B04D1847-01AC-4483-9AF4-7A2441E3AF72}"/>
                  </a:ext>
                </a:extLst>
              </p:cNvPr>
              <p:cNvSpPr txBox="1"/>
              <p:nvPr/>
            </p:nvSpPr>
            <p:spPr>
              <a:xfrm>
                <a:off x="7425700" y="2434883"/>
                <a:ext cx="126810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λ</m:t>
                    </m:r>
                    <m:r>
                      <a:rPr lang="el-GR" sz="2800" i="1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pt-BR" sz="2800" dirty="0"/>
                  <a:t>1,5</a:t>
                </a: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B04D1847-01AC-4483-9AF4-7A2441E3A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5700" y="2434883"/>
                <a:ext cx="1268107" cy="430887"/>
              </a:xfrm>
              <a:prstGeom prst="rect">
                <a:avLst/>
              </a:prstGeom>
              <a:blipFill>
                <a:blip r:embed="rId4"/>
                <a:stretch>
                  <a:fillRect t="-23944" r="-481" b="-507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1">
            <a:extLst>
              <a:ext uri="{FF2B5EF4-FFF2-40B4-BE49-F238E27FC236}">
                <a16:creationId xmlns:a16="http://schemas.microsoft.com/office/drawing/2014/main" id="{387ED474-5ABD-4D41-A60E-FDACC1327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5700" y="3515049"/>
            <a:ext cx="4708594" cy="954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Transformação Linear: Alongamento (dilatação)</a:t>
            </a:r>
          </a:p>
        </p:txBody>
      </p:sp>
    </p:spTree>
    <p:extLst>
      <p:ext uri="{BB962C8B-B14F-4D97-AF65-F5344CB8AC3E}">
        <p14:creationId xmlns:p14="http://schemas.microsoft.com/office/powerpoint/2010/main" val="72209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1FAFFEBD-08CD-4EE7-9466-28BF83C64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782" y="720418"/>
            <a:ext cx="4086225" cy="229552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3C7C604-15D8-4469-83AD-E8F017799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997" y="3409773"/>
            <a:ext cx="3436162" cy="268218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A642A2-5F89-4D3E-80D6-E924A1A1C5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2017" y="3260183"/>
            <a:ext cx="3962986" cy="277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82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13226</TotalTime>
  <Words>309</Words>
  <Application>Microsoft Office PowerPoint</Application>
  <PresentationFormat>Widescreen</PresentationFormat>
  <Paragraphs>55</Paragraphs>
  <Slides>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Galdino</dc:creator>
  <cp:lastModifiedBy>Luciano</cp:lastModifiedBy>
  <cp:revision>772</cp:revision>
  <dcterms:created xsi:type="dcterms:W3CDTF">2020-11-26T18:44:25Z</dcterms:created>
  <dcterms:modified xsi:type="dcterms:W3CDTF">2021-08-08T16:08:18Z</dcterms:modified>
</cp:coreProperties>
</file>