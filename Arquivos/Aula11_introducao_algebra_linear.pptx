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522" r:id="rId2"/>
    <p:sldId id="494" r:id="rId3"/>
    <p:sldId id="486" r:id="rId4"/>
    <p:sldId id="487" r:id="rId5"/>
    <p:sldId id="488" r:id="rId6"/>
    <p:sldId id="485" r:id="rId7"/>
    <p:sldId id="498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A4570-81C0-423A-94B3-0CEBDFB059A9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43B3C-6B56-4DB9-B8C5-7AAFDCBAF55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20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94466-33D4-4291-AEAB-7DF595163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AFC2AE-93AC-4680-8E7C-B02CB197C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154236-9168-49B8-BC9E-CF41B4659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980C4A-8AD4-4FC6-87E9-7CA1E0273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DD231B-0F56-44C4-B2A7-1017698E7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9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9ADD8-0B53-44E3-92A7-75C9F828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1DEF2-57B0-4E4C-A2FD-A9EDE6335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0D92E1-EF5F-4177-A65B-65AEBAEE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E87010-2C39-4AEB-833C-16B0EC62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9898AF-588A-4892-968A-ABFE9540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75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E29DB-B9F1-41DF-B604-5533FBFAB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D8C934-FDC0-453A-8B03-CC1845C05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75B5CD-2E6D-4712-80D9-8422C114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22413D-C958-4F78-AA2D-365AF04A2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7B3E4D-6BA3-4415-80D5-E0BCFD12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65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B79B8-5798-415F-BEC8-9449C876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B6D46B-F31B-437E-87AA-879EC0AF6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B5E6E9-120E-4119-AE60-B175FF9EC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C1CA78-AA2E-41D6-960B-5CA60B184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369B28-2C38-4790-901C-7239BAE9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F6621F-49FD-45A9-9381-8E9B565A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306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ACFB2-05E5-469A-A221-C2450C85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4DAA59-8B01-4D64-97B7-10AD559C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3C0BDC-4F4F-487F-8C55-53A0A38A7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57F3EA-1617-4594-9736-18B1B044F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1CA8F34-5316-4F01-A2C0-0FCA26766A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363F45-C4D4-4493-B200-8C67BB651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B3CF5C-3D4B-436D-B1A6-32BA1BE3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D19D8B8-B300-4377-B784-45CB3069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29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AE2E9-6B3C-4ABC-9168-0A9FFCEF4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F18D2-3152-4968-BE18-2527E67A5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9F55EA-76D4-486C-849A-4A762B564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A22ED98-7ABE-4270-AAD6-645A1E270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21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FDF1FEE-8714-458A-9236-55AB851A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128630-B400-439D-8FD6-7C95A082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60FDC8-5046-4D4E-943D-51AF3235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601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191A1F-51B4-4ABB-AF32-A3634206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694D5-0149-432D-8B95-6BBAE349C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B68A95-224F-465C-ACEB-E0FFE218A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B8D33D-ED48-4F75-94FB-EB701647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3D3291-E87E-4E1F-BA75-9AB958BC3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882FF1-8A36-448A-BC6E-EC64D4B6E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221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A6073-6014-4043-BE2D-20BCF986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8DE7003-D0E2-45C3-B9E0-5E71D21EB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46E02D-B33F-4063-A944-75D22F25A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FBA53E-5280-4F19-B9EC-13EDF7B0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0BC751-C1C0-4F88-A020-0831D9CB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D7C60B-9C74-4FEB-90BB-282213C8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97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56574-CF26-47C8-AF0C-B847C3C2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7281DF-1488-4181-96DB-4AFD3564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D7EBF4-DB7E-4E9B-B749-26975E99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4ACBE3-FF6F-4046-BBFB-4F79F33A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47086A-B25A-44EE-AD4B-E1110441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0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1BA9F9-8E36-4035-A04B-03BBC8982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F3AD45-D5F8-44FD-928C-BF99F8B8B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67D66E-2272-43D1-9940-95CD6F89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7757E6-72B0-469C-A808-56DC2907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CD322F-100D-4FCE-AE9A-92BAA82C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49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33705E-AD18-46DB-9B9E-463034FFB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0CB9AC-6007-4C88-A0E9-4E131A21D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7962D1-C7EF-48E8-80E5-524E61215C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5984B-C99F-4A38-A308-4C0AB46BC4AE}" type="datetimeFigureOut">
              <a:rPr lang="pt-BR" smtClean="0"/>
              <a:t>01/08/2021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0CF00F-0B12-4CCE-9938-ACF096888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19F014-1BA4-4394-9471-4FCFAAC66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1AC2B-A567-4999-B17D-4ED47A63B5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329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>
            <a:extLst>
              <a:ext uri="{FF2B5EF4-FFF2-40B4-BE49-F238E27FC236}">
                <a16:creationId xmlns:a16="http://schemas.microsoft.com/office/drawing/2014/main" id="{5557BD11-BE61-4B7E-A186-5BABFFC88603}"/>
              </a:ext>
            </a:extLst>
          </p:cNvPr>
          <p:cNvSpPr txBox="1">
            <a:spLocks/>
          </p:cNvSpPr>
          <p:nvPr/>
        </p:nvSpPr>
        <p:spPr>
          <a:xfrm>
            <a:off x="927315" y="5437166"/>
            <a:ext cx="10337369" cy="5360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Prof. Luciano Galdino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45341CB5-B20A-43F7-AD92-D8444021F427}"/>
              </a:ext>
            </a:extLst>
          </p:cNvPr>
          <p:cNvSpPr txBox="1">
            <a:spLocks/>
          </p:cNvSpPr>
          <p:nvPr/>
        </p:nvSpPr>
        <p:spPr>
          <a:xfrm>
            <a:off x="0" y="1612482"/>
            <a:ext cx="12192000" cy="31792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4900" dirty="0"/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Álgebra Linear com Python para </a:t>
            </a:r>
            <a:r>
              <a:rPr lang="pt-BR" sz="49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Machine</a:t>
            </a:r>
            <a:r>
              <a:rPr lang="pt-BR" sz="4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Learning e Modelagem Matemática</a:t>
            </a:r>
            <a:endParaRPr lang="pt-BR" sz="4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pt-BR" sz="5300" b="1" dirty="0"/>
          </a:p>
        </p:txBody>
      </p:sp>
    </p:spTree>
    <p:extLst>
      <p:ext uri="{BB962C8B-B14F-4D97-AF65-F5344CB8AC3E}">
        <p14:creationId xmlns:p14="http://schemas.microsoft.com/office/powerpoint/2010/main" val="4289014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9">
            <a:extLst>
              <a:ext uri="{FF2B5EF4-FFF2-40B4-BE49-F238E27FC236}">
                <a16:creationId xmlns:a16="http://schemas.microsoft.com/office/drawing/2014/main" id="{18E4E2EE-4E47-4682-8B72-80C00F4A8507}"/>
              </a:ext>
            </a:extLst>
          </p:cNvPr>
          <p:cNvSpPr txBox="1"/>
          <p:nvPr/>
        </p:nvSpPr>
        <p:spPr>
          <a:xfrm>
            <a:off x="900336" y="133011"/>
            <a:ext cx="10775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/>
              <a:t>Álgebra Linear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5D9B35A1-1990-49EC-B2B4-28A736603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7536"/>
            <a:ext cx="10837986" cy="12077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Campo da matemática que trabalha com equações lineares e funções lineares que são representadas através de matrizes e vetores.</a:t>
            </a:r>
            <a:endParaRPr lang="pt-BR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C0606B07-6D95-4729-8A5D-587E43B91FC4}"/>
              </a:ext>
            </a:extLst>
          </p:cNvPr>
          <p:cNvSpPr txBox="1">
            <a:spLocks/>
          </p:cNvSpPr>
          <p:nvPr/>
        </p:nvSpPr>
        <p:spPr>
          <a:xfrm>
            <a:off x="838200" y="2083641"/>
            <a:ext cx="10775850" cy="5739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Indispensável para aplicações de modelagens matemáticas e com dados.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2367CA41-DA4B-450B-8BFB-E0FBB6DB944D}"/>
              </a:ext>
            </a:extLst>
          </p:cNvPr>
          <p:cNvSpPr txBox="1">
            <a:spLocks/>
          </p:cNvSpPr>
          <p:nvPr/>
        </p:nvSpPr>
        <p:spPr>
          <a:xfrm>
            <a:off x="838200" y="2961174"/>
            <a:ext cx="10515600" cy="555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Melhora o entendimento de conceitos estatísticos.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122E75C8-93DE-4B2A-96B9-B3D76CD3E14B}"/>
              </a:ext>
            </a:extLst>
          </p:cNvPr>
          <p:cNvSpPr txBox="1">
            <a:spLocks/>
          </p:cNvSpPr>
          <p:nvPr/>
        </p:nvSpPr>
        <p:spPr>
          <a:xfrm>
            <a:off x="838200" y="3820429"/>
            <a:ext cx="10713714" cy="555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Muito aplicado em Engenharia, Física, Estatística, inteligência artificial...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AAB19DE4-A1DA-41C5-9019-B9751B0037A3}"/>
              </a:ext>
            </a:extLst>
          </p:cNvPr>
          <p:cNvSpPr txBox="1">
            <a:spLocks/>
          </p:cNvSpPr>
          <p:nvPr/>
        </p:nvSpPr>
        <p:spPr>
          <a:xfrm>
            <a:off x="838200" y="4685849"/>
            <a:ext cx="10837986" cy="8443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Facilita o entendimento e manipulação dos modelos de </a:t>
            </a:r>
            <a:r>
              <a:rPr lang="pt-BR" dirty="0" err="1"/>
              <a:t>Machine</a:t>
            </a:r>
            <a:r>
              <a:rPr lang="pt-BR" dirty="0"/>
              <a:t> Learning e </a:t>
            </a:r>
            <a:r>
              <a:rPr lang="pt-BR" dirty="0" err="1"/>
              <a:t>Deep</a:t>
            </a:r>
            <a:r>
              <a:rPr lang="pt-BR" dirty="0"/>
              <a:t> Learning.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4EFB3106-9873-4D6D-9666-C8F4A4C29BC6}"/>
              </a:ext>
            </a:extLst>
          </p:cNvPr>
          <p:cNvSpPr txBox="1">
            <a:spLocks/>
          </p:cNvSpPr>
          <p:nvPr/>
        </p:nvSpPr>
        <p:spPr>
          <a:xfrm>
            <a:off x="838200" y="5843461"/>
            <a:ext cx="11353800" cy="8717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0" i="0" dirty="0">
                <a:effectLst/>
              </a:rPr>
              <a:t>Permite realizar múltiplas operações de maneira simples e computacionalmente eficiente.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594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6" grpId="0"/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8E0DBA1-350F-4DC4-B1BF-77F196362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428249"/>
            <a:ext cx="11521440" cy="773723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Conteúdos principais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9D0F05-8367-4506-8591-330DE035F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118"/>
            <a:ext cx="10515600" cy="5556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dirty="0"/>
              <a:t>Sistemas de Equações Lineares.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82202834-17A8-4E51-9B7C-EEA8D7965B13}"/>
              </a:ext>
            </a:extLst>
          </p:cNvPr>
          <p:cNvSpPr txBox="1">
            <a:spLocks/>
          </p:cNvSpPr>
          <p:nvPr/>
        </p:nvSpPr>
        <p:spPr>
          <a:xfrm>
            <a:off x="838200" y="2764224"/>
            <a:ext cx="10515600" cy="5556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Matrizes.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359A5060-2727-4677-9610-07163FE13531}"/>
              </a:ext>
            </a:extLst>
          </p:cNvPr>
          <p:cNvSpPr txBox="1">
            <a:spLocks/>
          </p:cNvSpPr>
          <p:nvPr/>
        </p:nvSpPr>
        <p:spPr>
          <a:xfrm>
            <a:off x="838200" y="3564203"/>
            <a:ext cx="10515600" cy="456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Determinantes.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9EF45903-A80B-43FB-9A64-83F830E7162D}"/>
              </a:ext>
            </a:extLst>
          </p:cNvPr>
          <p:cNvSpPr txBox="1">
            <a:spLocks/>
          </p:cNvSpPr>
          <p:nvPr/>
        </p:nvSpPr>
        <p:spPr>
          <a:xfrm>
            <a:off x="838200" y="5229198"/>
            <a:ext cx="10964594" cy="5419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Transformações lineares.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1691877-5D4F-4F35-9643-617D2D0B670C}"/>
              </a:ext>
            </a:extLst>
          </p:cNvPr>
          <p:cNvSpPr txBox="1">
            <a:spLocks/>
          </p:cNvSpPr>
          <p:nvPr/>
        </p:nvSpPr>
        <p:spPr>
          <a:xfrm>
            <a:off x="838200" y="4385599"/>
            <a:ext cx="10515600" cy="5419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Espaços vetoriais.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127A8794-7A5B-4D35-A445-3DBF37594261}"/>
              </a:ext>
            </a:extLst>
          </p:cNvPr>
          <p:cNvSpPr txBox="1">
            <a:spLocks/>
          </p:cNvSpPr>
          <p:nvPr/>
        </p:nvSpPr>
        <p:spPr>
          <a:xfrm>
            <a:off x="838200" y="2010700"/>
            <a:ext cx="10515600" cy="5556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Vetores.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996304B-D570-43DD-A761-ED7AA5CE8C8C}"/>
              </a:ext>
            </a:extLst>
          </p:cNvPr>
          <p:cNvSpPr txBox="1">
            <a:spLocks/>
          </p:cNvSpPr>
          <p:nvPr/>
        </p:nvSpPr>
        <p:spPr>
          <a:xfrm>
            <a:off x="838200" y="5917671"/>
            <a:ext cx="10964594" cy="5419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dirty="0"/>
              <a:t>Autovalores e Autovetores.</a:t>
            </a:r>
          </a:p>
        </p:txBody>
      </p:sp>
    </p:spTree>
    <p:extLst>
      <p:ext uri="{BB962C8B-B14F-4D97-AF65-F5344CB8AC3E}">
        <p14:creationId xmlns:p14="http://schemas.microsoft.com/office/powerpoint/2010/main" val="270161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  <p:bldP spid="8" grpId="0" build="p"/>
      <p:bldP spid="10" grpId="0"/>
      <p:bldP spid="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F40F48D5-2644-409F-BC1A-F1F6614746A9}"/>
              </a:ext>
            </a:extLst>
          </p:cNvPr>
          <p:cNvSpPr txBox="1">
            <a:spLocks/>
          </p:cNvSpPr>
          <p:nvPr/>
        </p:nvSpPr>
        <p:spPr>
          <a:xfrm>
            <a:off x="1205668" y="205306"/>
            <a:ext cx="10515600" cy="577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pt-BR" sz="3200" b="1" dirty="0"/>
              <a:t>Matemática para </a:t>
            </a:r>
            <a:r>
              <a:rPr lang="pt-BR" sz="3200" b="1" dirty="0" err="1"/>
              <a:t>Machine</a:t>
            </a:r>
            <a:r>
              <a:rPr lang="pt-BR" sz="3200" b="1" dirty="0"/>
              <a:t> Learning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2D76EB7-256A-4295-8D0D-2C1FC224A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723" y="805569"/>
            <a:ext cx="7487893" cy="5551771"/>
          </a:xfrm>
          <a:prstGeom prst="rect">
            <a:avLst/>
          </a:prstGeom>
        </p:spPr>
      </p:pic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3A93CD31-0E15-4854-85F6-7E29EBF8D0EE}"/>
              </a:ext>
            </a:extLst>
          </p:cNvPr>
          <p:cNvSpPr txBox="1">
            <a:spLocks/>
          </p:cNvSpPr>
          <p:nvPr/>
        </p:nvSpPr>
        <p:spPr>
          <a:xfrm>
            <a:off x="1205668" y="6283991"/>
            <a:ext cx="10515600" cy="577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pt-BR" sz="2400" dirty="0"/>
              <a:t>https://towardsdatascience.com/the-mathematics-of-machine-learning</a:t>
            </a:r>
          </a:p>
        </p:txBody>
      </p:sp>
    </p:spTree>
    <p:extLst>
      <p:ext uri="{BB962C8B-B14F-4D97-AF65-F5344CB8AC3E}">
        <p14:creationId xmlns:p14="http://schemas.microsoft.com/office/powerpoint/2010/main" val="2828642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B9BA33A5-A52E-48AD-83E8-A03CD9AEF505}"/>
              </a:ext>
            </a:extLst>
          </p:cNvPr>
          <p:cNvSpPr txBox="1">
            <a:spLocks/>
          </p:cNvSpPr>
          <p:nvPr/>
        </p:nvSpPr>
        <p:spPr>
          <a:xfrm>
            <a:off x="267286" y="656314"/>
            <a:ext cx="11398347" cy="456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3200" b="1" dirty="0">
                <a:latin typeface="Helvetica Neue"/>
              </a:rPr>
              <a:t>Importância da Álgebra Linear para </a:t>
            </a:r>
            <a:r>
              <a:rPr lang="pt-BR" sz="3200" b="1" dirty="0" err="1">
                <a:latin typeface="Helvetica Neue"/>
              </a:rPr>
              <a:t>Machine</a:t>
            </a:r>
            <a:r>
              <a:rPr lang="pt-BR" sz="3200" b="1" dirty="0">
                <a:latin typeface="Helvetica Neue"/>
              </a:rPr>
              <a:t> Learning</a:t>
            </a:r>
            <a:endParaRPr lang="pt-BR" sz="3200" b="1" i="0" dirty="0">
              <a:effectLst/>
              <a:latin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4EB04C-2799-45D2-8BE4-8BF6A6DDF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971" y="1696388"/>
            <a:ext cx="10784058" cy="445828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PT" altLang="pt-BR" sz="2800" b="0" i="0" u="none" strike="noStrike" cap="none" normalizeH="0" baseline="0" dirty="0">
                <a:ln>
                  <a:noFill/>
                </a:ln>
                <a:effectLst/>
              </a:rPr>
              <a:t>Selecionar o algoritmo certo para dar considerações à precisão, tempo de treinamento, complexidade do modelo, número de parâmetros e número de recursos.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PT" altLang="pt-BR" sz="2800" dirty="0"/>
              <a:t>Entender a matemática que está por trás dos algoritmos.</a:t>
            </a:r>
            <a:endParaRPr kumimoji="0" lang="pt-PT" altLang="pt-BR" sz="2800" b="0" i="0" u="none" strike="noStrike" cap="none" normalizeH="0" baseline="0" dirty="0">
              <a:ln>
                <a:noFill/>
              </a:ln>
              <a:effectLst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PT" altLang="pt-BR" sz="2800" b="0" i="0" u="none" strike="noStrike" cap="none" normalizeH="0" baseline="0" dirty="0">
                <a:ln>
                  <a:noFill/>
                </a:ln>
                <a:effectLst/>
              </a:rPr>
              <a:t>Escolher configurações de parâmetros e estratégias de validação.</a:t>
            </a:r>
          </a:p>
          <a:p>
            <a:pPr marL="457200" indent="-457200" eaLnBrk="0" fontAlgn="base" hangingPunct="0">
              <a:spcBef>
                <a:spcPts val="12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t-PT" altLang="pt-BR" sz="2800" b="0" i="0" u="none" strike="noStrike" cap="none" normalizeH="0" baseline="0" dirty="0">
                <a:ln>
                  <a:noFill/>
                </a:ln>
                <a:effectLst/>
              </a:rPr>
              <a:t>Aplicação direta em regressões lineares múltiplas, redes neurais artificiais, árvores de</a:t>
            </a:r>
            <a:r>
              <a:rPr kumimoji="0" lang="pt-PT" altLang="pt-BR" sz="2800" b="0" i="0" u="none" strike="noStrike" cap="none" normalizeH="0" dirty="0">
                <a:ln>
                  <a:noFill/>
                </a:ln>
                <a:effectLst/>
              </a:rPr>
              <a:t> decisão, </a:t>
            </a:r>
            <a:r>
              <a:rPr lang="pt-PT" altLang="pt-BR" sz="2800" dirty="0"/>
              <a:t>Análises de componentes principais (PCA),</a:t>
            </a:r>
            <a:r>
              <a:rPr kumimoji="0" lang="pt-PT" altLang="pt-BR" sz="2800" b="0" i="0" u="none" strike="noStrike" cap="none" normalizeH="0" dirty="0">
                <a:ln>
                  <a:noFill/>
                </a:ln>
                <a:effectLst/>
              </a:rPr>
              <a:t> tratamento de imagens..</a:t>
            </a:r>
            <a:r>
              <a:rPr kumimoji="0" lang="pt-PT" altLang="pt-BR" sz="28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PT" altLang="pt-BR" sz="2800" b="0" i="0" u="none" strike="noStrike" cap="none" normalizeH="0" baseline="0" dirty="0">
                <a:ln>
                  <a:noFill/>
                </a:ln>
                <a:effectLst/>
              </a:rPr>
              <a:t>Estimar o intervalo de confiança correto e a incerteza.</a:t>
            </a:r>
          </a:p>
        </p:txBody>
      </p:sp>
    </p:spTree>
    <p:extLst>
      <p:ext uri="{BB962C8B-B14F-4D97-AF65-F5344CB8AC3E}">
        <p14:creationId xmlns:p14="http://schemas.microsoft.com/office/powerpoint/2010/main" val="271597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7C6D5122-F2E9-421F-8E94-4C6B9ADF2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766" y="184712"/>
            <a:ext cx="5500468" cy="648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22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B9BA33A5-A52E-48AD-83E8-A03CD9AEF505}"/>
              </a:ext>
            </a:extLst>
          </p:cNvPr>
          <p:cNvSpPr txBox="1">
            <a:spLocks/>
          </p:cNvSpPr>
          <p:nvPr/>
        </p:nvSpPr>
        <p:spPr>
          <a:xfrm>
            <a:off x="396826" y="697591"/>
            <a:ext cx="11398347" cy="10256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3200" b="1" dirty="0">
                <a:latin typeface="Helvetica Neue"/>
              </a:rPr>
              <a:t>Importância da Álgebra Linear para Estatística e Modelagem Matemática</a:t>
            </a:r>
            <a:endParaRPr lang="pt-BR" sz="3200" b="1" i="0" dirty="0">
              <a:effectLst/>
              <a:latin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4EB04C-2799-45D2-8BE4-8BF6A6DDF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448" y="2204945"/>
            <a:ext cx="11506199" cy="34426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-17457" rIns="0" bIns="-17457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ts val="12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PT" altLang="pt-BR" sz="2800" dirty="0">
                <a:latin typeface="inherit"/>
              </a:rPr>
              <a:t>Aplicados nos modelos de Regressão, Séries Temporais, Processos Estocásticos…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PT" altLang="pt-BR" sz="2800" dirty="0">
                <a:latin typeface="inherit"/>
              </a:rPr>
              <a:t>M</a:t>
            </a:r>
            <a:r>
              <a:rPr kumimoji="0" lang="pt-PT" altLang="pt-BR" sz="2800" b="0" i="0" u="none" strike="noStrike" cap="none" normalizeH="0" baseline="0" dirty="0">
                <a:ln>
                  <a:noFill/>
                </a:ln>
                <a:effectLst/>
                <a:latin typeface="inherit"/>
              </a:rPr>
              <a:t>atrizes são apenas uma forma natural de representar dados multivariados.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t-PT" altLang="pt-BR" sz="2800" b="0" i="0" u="none" strike="noStrike" cap="none" normalizeH="0" baseline="0" dirty="0">
                <a:ln>
                  <a:noFill/>
                </a:ln>
                <a:effectLst/>
                <a:latin typeface="inherit"/>
              </a:rPr>
              <a:t>Tran</a:t>
            </a:r>
            <a:r>
              <a:rPr lang="pt-PT" altLang="pt-BR" sz="2800" dirty="0">
                <a:latin typeface="inherit"/>
              </a:rPr>
              <a:t>sforma</a:t>
            </a:r>
            <a:r>
              <a:rPr kumimoji="0" lang="pt-PT" altLang="pt-BR" sz="2800" b="0" i="0" u="none" strike="noStrike" cap="none" normalizeH="0" baseline="0" dirty="0">
                <a:ln>
                  <a:noFill/>
                </a:ln>
                <a:effectLst/>
                <a:latin typeface="inherit"/>
              </a:rPr>
              <a:t> equações de resoluções complexas em equações matriciais e vetores simples e de fáceis resoluções.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t-PT" altLang="pt-BR" sz="2800" dirty="0">
                <a:latin typeface="inherit"/>
              </a:rPr>
              <a:t>M</a:t>
            </a:r>
            <a:r>
              <a:rPr kumimoji="0" lang="pt-PT" altLang="pt-BR" sz="2800" b="0" i="0" u="none" strike="noStrike" cap="none" normalizeH="0" baseline="0" dirty="0">
                <a:ln>
                  <a:noFill/>
                </a:ln>
                <a:effectLst/>
                <a:latin typeface="inherit"/>
              </a:rPr>
              <a:t>uitas técnicas estatísticas são baseadas em operadores abstratos, espaços vetoriais, produtos internos…</a:t>
            </a:r>
          </a:p>
        </p:txBody>
      </p:sp>
    </p:spTree>
    <p:extLst>
      <p:ext uri="{BB962C8B-B14F-4D97-AF65-F5344CB8AC3E}">
        <p14:creationId xmlns:p14="http://schemas.microsoft.com/office/powerpoint/2010/main" val="194417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9319</TotalTime>
  <Words>275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Helvetica Neue</vt:lpstr>
      <vt:lpstr>inherit</vt:lpstr>
      <vt:lpstr>Tema do Office</vt:lpstr>
      <vt:lpstr>Apresentação do PowerPoint</vt:lpstr>
      <vt:lpstr>Apresentação do PowerPoint</vt:lpstr>
      <vt:lpstr>Conteúdos principais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Luciano Galdino</dc:creator>
  <cp:lastModifiedBy>Luciano</cp:lastModifiedBy>
  <cp:revision>656</cp:revision>
  <dcterms:created xsi:type="dcterms:W3CDTF">2020-11-26T18:44:25Z</dcterms:created>
  <dcterms:modified xsi:type="dcterms:W3CDTF">2021-08-01T18:28:27Z</dcterms:modified>
</cp:coreProperties>
</file>