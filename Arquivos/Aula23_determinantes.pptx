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2" r:id="rId2"/>
    <p:sldId id="439" r:id="rId3"/>
    <p:sldId id="441" r:id="rId4"/>
    <p:sldId id="527" r:id="rId5"/>
    <p:sldId id="523" r:id="rId6"/>
    <p:sldId id="524" r:id="rId7"/>
    <p:sldId id="525" r:id="rId8"/>
    <p:sldId id="526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03/08/2021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18.png"/><Relationship Id="rId10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373913"/>
            <a:ext cx="11101754" cy="225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</a:t>
            </a:r>
          </a:p>
          <a:p>
            <a:pPr algn="ctr"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Expressão matemática que envolve os termos da matriz.</a:t>
            </a:r>
          </a:p>
          <a:p>
            <a:pPr eaLnBrk="1" hangingPunct="1"/>
            <a:r>
              <a:rPr lang="pt-BR" altLang="pt-BR" sz="2800" dirty="0"/>
              <a:t>Objetiva determinar se a </a:t>
            </a:r>
            <a:r>
              <a:rPr lang="pt-BR" altLang="pt-BR" sz="2800" b="1" dirty="0"/>
              <a:t>matriz é </a:t>
            </a:r>
            <a:r>
              <a:rPr lang="pt-BR" altLang="pt-BR" sz="2800" b="1" dirty="0" err="1"/>
              <a:t>inversível</a:t>
            </a:r>
            <a:r>
              <a:rPr lang="pt-BR" altLang="pt-BR" sz="2800" b="1" dirty="0"/>
              <a:t> </a:t>
            </a:r>
            <a:r>
              <a:rPr lang="pt-BR" altLang="pt-BR" sz="2800" dirty="0"/>
              <a:t>(determinante tem que ser </a:t>
            </a:r>
            <a:r>
              <a:rPr lang="pt-BR" altLang="pt-BR" sz="2800" b="1" dirty="0"/>
              <a:t>diferente de zero</a:t>
            </a:r>
            <a:r>
              <a:rPr lang="pt-BR" altLang="pt-BR" sz="2800" dirty="0"/>
              <a:t>) e se um </a:t>
            </a:r>
            <a:r>
              <a:rPr lang="pt-BR" altLang="pt-BR" sz="2800" b="1" dirty="0"/>
              <a:t>sistema linear </a:t>
            </a:r>
            <a:r>
              <a:rPr lang="pt-BR" altLang="pt-BR" sz="2800" dirty="0"/>
              <a:t>tem </a:t>
            </a:r>
            <a:r>
              <a:rPr lang="pt-BR" altLang="pt-BR" sz="2800" b="1" dirty="0"/>
              <a:t>solução ou não.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3289493" y="4675276"/>
                <a:ext cx="1799018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493" y="4675276"/>
                <a:ext cx="1799018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3B7A5B1-935A-46A1-8F6F-70765C8E691E}"/>
                  </a:ext>
                </a:extLst>
              </p:cNvPr>
              <p:cNvSpPr txBox="1"/>
              <p:nvPr/>
            </p:nvSpPr>
            <p:spPr>
              <a:xfrm>
                <a:off x="6519414" y="4810035"/>
                <a:ext cx="26677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𝑒𝑡𝐴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=2.8−4.3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3B7A5B1-935A-46A1-8F6F-70765C8E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414" y="4810035"/>
                <a:ext cx="266771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17">
            <a:extLst>
              <a:ext uri="{FF2B5EF4-FFF2-40B4-BE49-F238E27FC236}">
                <a16:creationId xmlns:a16="http://schemas.microsoft.com/office/drawing/2014/main" id="{33E0CBF8-1E8F-4274-8456-AEEC0D44C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3127281"/>
            <a:ext cx="1070785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dirty="0"/>
              <a:t>Em uma matriz 2x2 o determinante é definido como o produto dos elementos da diagonal principal subtraído do produto dos elementos da diagonal secundária.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E48F8E2-0E8B-4066-9A7C-F2FA149A25EC}"/>
                  </a:ext>
                </a:extLst>
              </p:cNvPr>
              <p:cNvSpPr txBox="1"/>
              <p:nvPr/>
            </p:nvSpPr>
            <p:spPr>
              <a:xfrm>
                <a:off x="7010398" y="5962105"/>
                <a:ext cx="14966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𝑒𝑡𝐴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E48F8E2-0E8B-4066-9A7C-F2FA149A2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398" y="5962105"/>
                <a:ext cx="149669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8AD56B8C-FB3E-4CF6-A5ED-FAED319F2C75}"/>
              </a:ext>
            </a:extLst>
          </p:cNvPr>
          <p:cNvSpPr/>
          <p:nvPr/>
        </p:nvSpPr>
        <p:spPr>
          <a:xfrm>
            <a:off x="5215123" y="4955138"/>
            <a:ext cx="1143475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4E065526-ADFC-4929-92D9-0FB3F00912EB}"/>
              </a:ext>
            </a:extLst>
          </p:cNvPr>
          <p:cNvSpPr/>
          <p:nvPr/>
        </p:nvSpPr>
        <p:spPr>
          <a:xfrm>
            <a:off x="7666891" y="5353466"/>
            <a:ext cx="211015" cy="505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8F90946-FF18-4F3F-87E0-A0050936E1B0}"/>
              </a:ext>
            </a:extLst>
          </p:cNvPr>
          <p:cNvCxnSpPr/>
          <p:nvPr/>
        </p:nvCxnSpPr>
        <p:spPr>
          <a:xfrm>
            <a:off x="4248443" y="4810035"/>
            <a:ext cx="966680" cy="74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4A95734-55D9-4704-B577-1CFAE92AF6E5}"/>
              </a:ext>
            </a:extLst>
          </p:cNvPr>
          <p:cNvCxnSpPr/>
          <p:nvPr/>
        </p:nvCxnSpPr>
        <p:spPr>
          <a:xfrm flipH="1">
            <a:off x="3756074" y="4810035"/>
            <a:ext cx="1055077" cy="74670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7">
            <a:extLst>
              <a:ext uri="{FF2B5EF4-FFF2-40B4-BE49-F238E27FC236}">
                <a16:creationId xmlns:a16="http://schemas.microsoft.com/office/drawing/2014/main" id="{B2D4BF62-9499-4668-AED6-45AA443B6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4719" y="5731272"/>
            <a:ext cx="3289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rgbClr val="FF0000"/>
                </a:solidFill>
              </a:rPr>
              <a:t>Matriz é </a:t>
            </a:r>
            <a:r>
              <a:rPr lang="pt-BR" altLang="pt-BR" sz="2400" dirty="0" err="1">
                <a:solidFill>
                  <a:srgbClr val="FF0000"/>
                </a:solidFill>
              </a:rPr>
              <a:t>inversível</a:t>
            </a:r>
            <a:endParaRPr lang="pt-BR" altLang="pt-BR" sz="2400" dirty="0">
              <a:solidFill>
                <a:srgbClr val="FF0000"/>
              </a:solidFill>
            </a:endParaRPr>
          </a:p>
        </p:txBody>
      </p:sp>
      <p:sp>
        <p:nvSpPr>
          <p:cNvPr id="12" name="Retângulo 17">
            <a:extLst>
              <a:ext uri="{FF2B5EF4-FFF2-40B4-BE49-F238E27FC236}">
                <a16:creationId xmlns:a16="http://schemas.microsoft.com/office/drawing/2014/main" id="{9BD4271F-3FA9-4BBD-B04D-92056C8AD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4719" y="6270085"/>
            <a:ext cx="3289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rgbClr val="FF0000"/>
                </a:solidFill>
              </a:rPr>
              <a:t>Sistema tem solução</a:t>
            </a:r>
          </a:p>
        </p:txBody>
      </p:sp>
    </p:spTree>
    <p:extLst>
      <p:ext uri="{BB962C8B-B14F-4D97-AF65-F5344CB8AC3E}">
        <p14:creationId xmlns:p14="http://schemas.microsoft.com/office/powerpoint/2010/main" val="297726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5" grpId="0"/>
      <p:bldP spid="7" grpId="0"/>
      <p:bldP spid="2" grpId="0" animBg="1"/>
      <p:bldP spid="3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416741"/>
            <a:ext cx="111111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 em matriz quadrada de ordem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1924928" y="2726276"/>
                <a:ext cx="238110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28" y="2726276"/>
                <a:ext cx="2381100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3B7A5B1-935A-46A1-8F6F-70765C8E691E}"/>
                  </a:ext>
                </a:extLst>
              </p:cNvPr>
              <p:cNvSpPr txBox="1"/>
              <p:nvPr/>
            </p:nvSpPr>
            <p:spPr>
              <a:xfrm>
                <a:off x="7826134" y="4280233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3B7A5B1-935A-46A1-8F6F-70765C8E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134" y="4280233"/>
                <a:ext cx="408766" cy="369332"/>
              </a:xfrm>
              <a:prstGeom prst="rect">
                <a:avLst/>
              </a:prstGeom>
              <a:blipFill>
                <a:blip r:embed="rId3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17">
            <a:extLst>
              <a:ext uri="{FF2B5EF4-FFF2-40B4-BE49-F238E27FC236}">
                <a16:creationId xmlns:a16="http://schemas.microsoft.com/office/drawing/2014/main" id="{33E0CBF8-1E8F-4274-8456-AEEC0D44C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1510215"/>
            <a:ext cx="10818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Regra de </a:t>
            </a:r>
            <a:r>
              <a:rPr lang="pt-BR" altLang="pt-BR" sz="2800" b="1" dirty="0" err="1"/>
              <a:t>Sarrus</a:t>
            </a:r>
            <a:r>
              <a:rPr lang="pt-BR" altLang="pt-BR" sz="2800" b="1" dirty="0"/>
              <a:t>:</a:t>
            </a:r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8AD56B8C-FB3E-4CF6-A5ED-FAED319F2C75}"/>
              </a:ext>
            </a:extLst>
          </p:cNvPr>
          <p:cNvSpPr/>
          <p:nvPr/>
        </p:nvSpPr>
        <p:spPr>
          <a:xfrm>
            <a:off x="4539875" y="3223556"/>
            <a:ext cx="1143475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81F4561-71DC-4643-A7BD-BCF5A9B532EA}"/>
                  </a:ext>
                </a:extLst>
              </p:cNvPr>
              <p:cNvSpPr txBox="1"/>
              <p:nvPr/>
            </p:nvSpPr>
            <p:spPr>
              <a:xfrm>
                <a:off x="5917197" y="2726276"/>
                <a:ext cx="2708627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81F4561-71DC-4643-A7BD-BCF5A9B53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197" y="2726276"/>
                <a:ext cx="2708627" cy="11394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C4C6602-284F-4009-9D8C-B47905A3C2C0}"/>
              </a:ext>
            </a:extLst>
          </p:cNvPr>
          <p:cNvCxnSpPr/>
          <p:nvPr/>
        </p:nvCxnSpPr>
        <p:spPr>
          <a:xfrm>
            <a:off x="6217919" y="2897945"/>
            <a:ext cx="1716259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B0011D1-2BE4-4497-B6A8-BC7DC1628FD8}"/>
              </a:ext>
            </a:extLst>
          </p:cNvPr>
          <p:cNvCxnSpPr/>
          <p:nvPr/>
        </p:nvCxnSpPr>
        <p:spPr>
          <a:xfrm>
            <a:off x="6766559" y="2897945"/>
            <a:ext cx="1653367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614838D-B9F1-4282-9786-E850A19D7CD8}"/>
              </a:ext>
            </a:extLst>
          </p:cNvPr>
          <p:cNvCxnSpPr/>
          <p:nvPr/>
        </p:nvCxnSpPr>
        <p:spPr>
          <a:xfrm>
            <a:off x="7271510" y="2897945"/>
            <a:ext cx="1633338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F2AF47-1309-4A50-A1B6-94FEDDB4A0BC}"/>
                  </a:ext>
                </a:extLst>
              </p:cNvPr>
              <p:cNvSpPr txBox="1"/>
              <p:nvPr/>
            </p:nvSpPr>
            <p:spPr>
              <a:xfrm>
                <a:off x="8328073" y="4272179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6F2AF47-1309-4A50-A1B6-94FEDDB4A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073" y="4272179"/>
                <a:ext cx="408766" cy="369332"/>
              </a:xfrm>
              <a:prstGeom prst="rect">
                <a:avLst/>
              </a:prstGeom>
              <a:blipFill>
                <a:blip r:embed="rId5"/>
                <a:stretch>
                  <a:fillRect l="-16418" r="-1940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7F79377-44C8-4944-89E1-99EA0B7DAB5F}"/>
                  </a:ext>
                </a:extLst>
              </p:cNvPr>
              <p:cNvSpPr txBox="1"/>
              <p:nvPr/>
            </p:nvSpPr>
            <p:spPr>
              <a:xfrm>
                <a:off x="8904848" y="4247967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7F79377-44C8-4944-89E1-99EA0B7DA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848" y="4247967"/>
                <a:ext cx="238847" cy="369332"/>
              </a:xfrm>
              <a:prstGeom prst="rect">
                <a:avLst/>
              </a:prstGeom>
              <a:blipFill>
                <a:blip r:embed="rId6"/>
                <a:stretch>
                  <a:fillRect l="-30769" r="-3076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2AA49B2-6A35-4546-8A07-0A78C33A0848}"/>
                  </a:ext>
                </a:extLst>
              </p:cNvPr>
              <p:cNvSpPr txBox="1"/>
              <p:nvPr/>
            </p:nvSpPr>
            <p:spPr>
              <a:xfrm>
                <a:off x="6285969" y="4267236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2AA49B2-6A35-4546-8A07-0A78C33A0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969" y="4267236"/>
                <a:ext cx="637995" cy="369332"/>
              </a:xfrm>
              <a:prstGeom prst="rect">
                <a:avLst/>
              </a:prstGeom>
              <a:blipFill>
                <a:blip r:embed="rId7"/>
                <a:stretch>
                  <a:fillRect l="-1905" r="-1142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3B958CE-E0BA-4DA8-8981-8414BC494BBE}"/>
              </a:ext>
            </a:extLst>
          </p:cNvPr>
          <p:cNvCxnSpPr/>
          <p:nvPr/>
        </p:nvCxnSpPr>
        <p:spPr>
          <a:xfrm flipH="1">
            <a:off x="6639950" y="2897945"/>
            <a:ext cx="1688123" cy="13822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DE1337F-0C47-4956-B4FE-DEE44D67A480}"/>
              </a:ext>
            </a:extLst>
          </p:cNvPr>
          <p:cNvSpPr txBox="1"/>
          <p:nvPr/>
        </p:nvSpPr>
        <p:spPr>
          <a:xfrm>
            <a:off x="5895625" y="4247967"/>
            <a:ext cx="2500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068B590-A794-4C69-8DA8-1953CD9153B4}"/>
                  </a:ext>
                </a:extLst>
              </p:cNvPr>
              <p:cNvSpPr txBox="1"/>
              <p:nvPr/>
            </p:nvSpPr>
            <p:spPr>
              <a:xfrm>
                <a:off x="5092403" y="4247967"/>
                <a:ext cx="5113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068B590-A794-4C69-8DA8-1953CD915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403" y="4247967"/>
                <a:ext cx="511358" cy="369332"/>
              </a:xfrm>
              <a:prstGeom prst="rect">
                <a:avLst/>
              </a:prstGeom>
              <a:blipFill>
                <a:blip r:embed="rId8"/>
                <a:stretch>
                  <a:fillRect l="-2381" r="-1547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E1109E1-C537-4975-A3D1-F0602A6EB539}"/>
              </a:ext>
            </a:extLst>
          </p:cNvPr>
          <p:cNvCxnSpPr/>
          <p:nvPr/>
        </p:nvCxnSpPr>
        <p:spPr>
          <a:xfrm flipH="1">
            <a:off x="6192796" y="2897945"/>
            <a:ext cx="1597253" cy="135002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6315DD8-B206-4D25-AE3B-F7ADA72AF58C}"/>
              </a:ext>
            </a:extLst>
          </p:cNvPr>
          <p:cNvCxnSpPr/>
          <p:nvPr/>
        </p:nvCxnSpPr>
        <p:spPr>
          <a:xfrm flipH="1">
            <a:off x="5458881" y="2897469"/>
            <a:ext cx="1875075" cy="135049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17">
            <a:extLst>
              <a:ext uri="{FF2B5EF4-FFF2-40B4-BE49-F238E27FC236}">
                <a16:creationId xmlns:a16="http://schemas.microsoft.com/office/drawing/2014/main" id="{D11EBF7E-4055-4697-AFE4-36EF324FC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717" y="4558531"/>
            <a:ext cx="22085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chemeClr val="accent2">
                    <a:lumMod val="75000"/>
                  </a:schemeClr>
                </a:solidFill>
              </a:rPr>
              <a:t>Inverte o sinal</a:t>
            </a:r>
          </a:p>
        </p:txBody>
      </p:sp>
      <p:sp>
        <p:nvSpPr>
          <p:cNvPr id="31" name="Retângulo 17">
            <a:extLst>
              <a:ext uri="{FF2B5EF4-FFF2-40B4-BE49-F238E27FC236}">
                <a16:creationId xmlns:a16="http://schemas.microsoft.com/office/drawing/2014/main" id="{2128772D-63FA-45CB-A78B-D2A463CCA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8084" y="4558531"/>
            <a:ext cx="2621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rgbClr val="0070C0"/>
                </a:solidFill>
              </a:rPr>
              <a:t>Conserva o sinal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94F60E6B-C6AE-4757-AF13-3B1B3B5ABE60}"/>
                  </a:ext>
                </a:extLst>
              </p:cNvPr>
              <p:cNvSpPr txBox="1"/>
              <p:nvPr/>
            </p:nvSpPr>
            <p:spPr>
              <a:xfrm>
                <a:off x="1924928" y="5298494"/>
                <a:ext cx="54314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=10+36+8−12−4−60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94F60E6B-C6AE-4757-AF13-3B1B3B5AB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28" y="5298494"/>
                <a:ext cx="543142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FE7683E1-D9B4-4A95-8DB9-E18A101A0D19}"/>
                  </a:ext>
                </a:extLst>
              </p:cNvPr>
              <p:cNvSpPr txBox="1"/>
              <p:nvPr/>
            </p:nvSpPr>
            <p:spPr>
              <a:xfrm>
                <a:off x="1924927" y="6007679"/>
                <a:ext cx="19727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=−22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FE7683E1-D9B4-4A95-8DB9-E18A101A0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27" y="6007679"/>
                <a:ext cx="197278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17">
            <a:extLst>
              <a:ext uri="{FF2B5EF4-FFF2-40B4-BE49-F238E27FC236}">
                <a16:creationId xmlns:a16="http://schemas.microsoft.com/office/drawing/2014/main" id="{89C39159-6C44-4E3E-A12C-7D4C787CC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242" y="5983098"/>
            <a:ext cx="3289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rgbClr val="FF0000"/>
                </a:solidFill>
              </a:rPr>
              <a:t>Matriz é </a:t>
            </a:r>
            <a:r>
              <a:rPr lang="pt-BR" altLang="pt-BR" sz="2400" dirty="0" err="1">
                <a:solidFill>
                  <a:srgbClr val="FF0000"/>
                </a:solidFill>
              </a:rPr>
              <a:t>inversível</a:t>
            </a:r>
            <a:endParaRPr lang="pt-BR" altLang="pt-BR" sz="2400" dirty="0">
              <a:solidFill>
                <a:srgbClr val="FF0000"/>
              </a:solidFill>
            </a:endParaRPr>
          </a:p>
        </p:txBody>
      </p:sp>
      <p:sp>
        <p:nvSpPr>
          <p:cNvPr id="28" name="Retângulo 17">
            <a:extLst>
              <a:ext uri="{FF2B5EF4-FFF2-40B4-BE49-F238E27FC236}">
                <a16:creationId xmlns:a16="http://schemas.microsoft.com/office/drawing/2014/main" id="{A5FAF8FD-6BF6-48AD-9663-30532B0E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670" y="6438566"/>
            <a:ext cx="3289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400" dirty="0">
                <a:solidFill>
                  <a:srgbClr val="FF0000"/>
                </a:solidFill>
              </a:rPr>
              <a:t>Sistema tem solução</a:t>
            </a:r>
          </a:p>
        </p:txBody>
      </p:sp>
    </p:spTree>
    <p:extLst>
      <p:ext uri="{BB962C8B-B14F-4D97-AF65-F5344CB8AC3E}">
        <p14:creationId xmlns:p14="http://schemas.microsoft.com/office/powerpoint/2010/main" val="421935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  <p:bldP spid="9" grpId="0"/>
      <p:bldP spid="18" grpId="0"/>
      <p:bldP spid="19" grpId="0"/>
      <p:bldP spid="20" grpId="0"/>
      <p:bldP spid="23" grpId="0"/>
      <p:bldP spid="24" grpId="0"/>
      <p:bldP spid="30" grpId="0"/>
      <p:bldP spid="31" grpId="0"/>
      <p:bldP spid="32" grpId="0"/>
      <p:bldP spid="33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39518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416741"/>
            <a:ext cx="112822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 de qualquer matriz quadrada</a:t>
            </a:r>
          </a:p>
        </p:txBody>
      </p:sp>
      <p:sp>
        <p:nvSpPr>
          <p:cNvPr id="5" name="Retângulo 17">
            <a:extLst>
              <a:ext uri="{FF2B5EF4-FFF2-40B4-BE49-F238E27FC236}">
                <a16:creationId xmlns:a16="http://schemas.microsoft.com/office/drawing/2014/main" id="{33E0CBF8-1E8F-4274-8456-AEEC0D44C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1" y="1648433"/>
            <a:ext cx="10818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Teorema de Laplace:</a:t>
            </a:r>
          </a:p>
        </p:txBody>
      </p:sp>
      <p:sp>
        <p:nvSpPr>
          <p:cNvPr id="29" name="Retângulo 17">
            <a:extLst>
              <a:ext uri="{FF2B5EF4-FFF2-40B4-BE49-F238E27FC236}">
                <a16:creationId xmlns:a16="http://schemas.microsoft.com/office/drawing/2014/main" id="{7239D4EB-5504-49B3-9DBB-85B85180F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56" y="4340940"/>
            <a:ext cx="10818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Cofator: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73FBFE4-D1C8-450A-AFB9-BEC79A42CF95}"/>
                  </a:ext>
                </a:extLst>
              </p:cNvPr>
              <p:cNvSpPr txBox="1"/>
              <p:nvPr/>
            </p:nvSpPr>
            <p:spPr>
              <a:xfrm>
                <a:off x="4921639" y="2818571"/>
                <a:ext cx="23487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73FBFE4-D1C8-450A-AFB9-BEC79A42C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639" y="2818571"/>
                <a:ext cx="2348720" cy="1043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E072A959-590C-43DD-9667-724D4BD43636}"/>
                  </a:ext>
                </a:extLst>
              </p:cNvPr>
              <p:cNvSpPr txBox="1"/>
              <p:nvPr/>
            </p:nvSpPr>
            <p:spPr>
              <a:xfrm>
                <a:off x="4704080" y="5066738"/>
                <a:ext cx="2783839" cy="489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E072A959-590C-43DD-9667-724D4BD43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080" y="5066738"/>
                <a:ext cx="2783839" cy="4894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33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D6BE3491-B602-43F2-AD39-C7AE801176BD}"/>
              </a:ext>
            </a:extLst>
          </p:cNvPr>
          <p:cNvSpPr/>
          <p:nvPr/>
        </p:nvSpPr>
        <p:spPr>
          <a:xfrm>
            <a:off x="1375776" y="1516454"/>
            <a:ext cx="1392701" cy="325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/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/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/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/>
              <p:nvPr/>
            </p:nvSpPr>
            <p:spPr>
              <a:xfrm>
                <a:off x="6710288" y="2182796"/>
                <a:ext cx="2783839" cy="489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2182796"/>
                <a:ext cx="2783839" cy="489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/>
              <p:nvPr/>
            </p:nvSpPr>
            <p:spPr>
              <a:xfrm>
                <a:off x="6710288" y="3625796"/>
                <a:ext cx="2688557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3625796"/>
                <a:ext cx="2688557" cy="1139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/>
              <p:nvPr/>
            </p:nvSpPr>
            <p:spPr>
              <a:xfrm>
                <a:off x="6710288" y="3042966"/>
                <a:ext cx="29932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3042966"/>
                <a:ext cx="299325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02E25E9-2A83-40A1-80B6-B3468431E359}"/>
              </a:ext>
            </a:extLst>
          </p:cNvPr>
          <p:cNvCxnSpPr/>
          <p:nvPr/>
        </p:nvCxnSpPr>
        <p:spPr>
          <a:xfrm>
            <a:off x="7914175" y="3808823"/>
            <a:ext cx="1391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E1D2176-E3EF-4F2B-956A-649AF6244348}"/>
              </a:ext>
            </a:extLst>
          </p:cNvPr>
          <p:cNvCxnSpPr>
            <a:cxnSpLocks/>
          </p:cNvCxnSpPr>
          <p:nvPr/>
        </p:nvCxnSpPr>
        <p:spPr>
          <a:xfrm>
            <a:off x="8030067" y="3625796"/>
            <a:ext cx="0" cy="11394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/>
              <p:nvPr/>
            </p:nvSpPr>
            <p:spPr>
              <a:xfrm>
                <a:off x="6710288" y="5220484"/>
                <a:ext cx="42579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.6=1.6=6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5220484"/>
                <a:ext cx="425796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5A1301A-C059-4393-A257-108212B9B903}"/>
                  </a:ext>
                </a:extLst>
              </p:cNvPr>
              <p:cNvSpPr txBox="1"/>
              <p:nvPr/>
            </p:nvSpPr>
            <p:spPr>
              <a:xfrm>
                <a:off x="9398845" y="3974668"/>
                <a:ext cx="248503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=2.5−4.1=6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05A1301A-C059-4393-A257-108212B9B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845" y="3974668"/>
                <a:ext cx="248503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tângulo 17">
            <a:extLst>
              <a:ext uri="{FF2B5EF4-FFF2-40B4-BE49-F238E27FC236}">
                <a16:creationId xmlns:a16="http://schemas.microsoft.com/office/drawing/2014/main" id="{C7F38103-77C2-45A4-8172-4DC65003B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416741"/>
            <a:ext cx="112822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 de qualquer matriz quadrada</a:t>
            </a:r>
          </a:p>
        </p:txBody>
      </p:sp>
    </p:spTree>
    <p:extLst>
      <p:ext uri="{BB962C8B-B14F-4D97-AF65-F5344CB8AC3E}">
        <p14:creationId xmlns:p14="http://schemas.microsoft.com/office/powerpoint/2010/main" val="44700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D6BE3491-B602-43F2-AD39-C7AE801176BD}"/>
              </a:ext>
            </a:extLst>
          </p:cNvPr>
          <p:cNvSpPr/>
          <p:nvPr/>
        </p:nvSpPr>
        <p:spPr>
          <a:xfrm>
            <a:off x="1375776" y="1516454"/>
            <a:ext cx="1392701" cy="325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/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/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/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/>
              <p:nvPr/>
            </p:nvSpPr>
            <p:spPr>
              <a:xfrm>
                <a:off x="6710288" y="2112462"/>
                <a:ext cx="2783839" cy="489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2112462"/>
                <a:ext cx="2783839" cy="489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/>
              <p:nvPr/>
            </p:nvSpPr>
            <p:spPr>
              <a:xfrm>
                <a:off x="6710288" y="3555462"/>
                <a:ext cx="2688557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3555462"/>
                <a:ext cx="2688557" cy="1139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/>
              <p:nvPr/>
            </p:nvSpPr>
            <p:spPr>
              <a:xfrm>
                <a:off x="6710288" y="2972632"/>
                <a:ext cx="29932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2972632"/>
                <a:ext cx="299325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02E25E9-2A83-40A1-80B6-B3468431E359}"/>
              </a:ext>
            </a:extLst>
          </p:cNvPr>
          <p:cNvCxnSpPr/>
          <p:nvPr/>
        </p:nvCxnSpPr>
        <p:spPr>
          <a:xfrm>
            <a:off x="7914175" y="3738489"/>
            <a:ext cx="1391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E1D2176-E3EF-4F2B-956A-649AF6244348}"/>
              </a:ext>
            </a:extLst>
          </p:cNvPr>
          <p:cNvCxnSpPr>
            <a:cxnSpLocks/>
          </p:cNvCxnSpPr>
          <p:nvPr/>
        </p:nvCxnSpPr>
        <p:spPr>
          <a:xfrm>
            <a:off x="8564644" y="3555462"/>
            <a:ext cx="0" cy="11394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/>
              <p:nvPr/>
            </p:nvSpPr>
            <p:spPr>
              <a:xfrm>
                <a:off x="6710288" y="5207448"/>
                <a:ext cx="47933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.8=−1.8=−8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5207448"/>
                <a:ext cx="479336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C4109A3-0445-42C3-887D-708D6780A986}"/>
                  </a:ext>
                </a:extLst>
              </p:cNvPr>
              <p:cNvSpPr txBox="1"/>
              <p:nvPr/>
            </p:nvSpPr>
            <p:spPr>
              <a:xfrm>
                <a:off x="9345890" y="3927600"/>
                <a:ext cx="248503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=4.5−4.3=8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C4109A3-0445-42C3-887D-708D6780A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890" y="3927600"/>
                <a:ext cx="248503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ângulo 17">
            <a:extLst>
              <a:ext uri="{FF2B5EF4-FFF2-40B4-BE49-F238E27FC236}">
                <a16:creationId xmlns:a16="http://schemas.microsoft.com/office/drawing/2014/main" id="{E9195A7D-EC9A-424E-9D07-DF2D80CEE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416741"/>
            <a:ext cx="112822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 de qualquer matriz quadrada</a:t>
            </a:r>
          </a:p>
        </p:txBody>
      </p:sp>
    </p:spTree>
    <p:extLst>
      <p:ext uri="{BB962C8B-B14F-4D97-AF65-F5344CB8AC3E}">
        <p14:creationId xmlns:p14="http://schemas.microsoft.com/office/powerpoint/2010/main" val="4088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1516454"/>
                <a:ext cx="2381100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>
            <a:extLst>
              <a:ext uri="{FF2B5EF4-FFF2-40B4-BE49-F238E27FC236}">
                <a16:creationId xmlns:a16="http://schemas.microsoft.com/office/drawing/2014/main" id="{D6BE3491-B602-43F2-AD39-C7AE801176BD}"/>
              </a:ext>
            </a:extLst>
          </p:cNvPr>
          <p:cNvSpPr/>
          <p:nvPr/>
        </p:nvSpPr>
        <p:spPr>
          <a:xfrm>
            <a:off x="1375776" y="1516454"/>
            <a:ext cx="1392701" cy="325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/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DB5C5ED-1738-45DC-9B84-37EAE6514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927488"/>
                <a:ext cx="2348720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/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5F53C24-81FE-42C4-95F0-4CE6BFC8F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131786"/>
                <a:ext cx="511261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/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29D86A61-FBB2-4B9C-9E74-29C39A3F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4910659"/>
                <a:ext cx="41742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/>
              <p:nvPr/>
            </p:nvSpPr>
            <p:spPr>
              <a:xfrm>
                <a:off x="6710288" y="2112462"/>
                <a:ext cx="2783839" cy="489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2FFD592-A074-4333-A896-A84B20C28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2112462"/>
                <a:ext cx="2783839" cy="489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/>
              <p:nvPr/>
            </p:nvSpPr>
            <p:spPr>
              <a:xfrm>
                <a:off x="6639948" y="3555462"/>
                <a:ext cx="2688557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699977D-E842-46CA-9CD0-F7FDBC955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48" y="3555462"/>
                <a:ext cx="2688557" cy="1139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/>
              <p:nvPr/>
            </p:nvSpPr>
            <p:spPr>
              <a:xfrm>
                <a:off x="6710288" y="2972632"/>
                <a:ext cx="29932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1+3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F15D05A-397B-4A72-8AFB-0A02125AE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288" y="2972632"/>
                <a:ext cx="299325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02E25E9-2A83-40A1-80B6-B3468431E359}"/>
              </a:ext>
            </a:extLst>
          </p:cNvPr>
          <p:cNvCxnSpPr/>
          <p:nvPr/>
        </p:nvCxnSpPr>
        <p:spPr>
          <a:xfrm>
            <a:off x="7829767" y="3738489"/>
            <a:ext cx="1391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E1D2176-E3EF-4F2B-956A-649AF6244348}"/>
              </a:ext>
            </a:extLst>
          </p:cNvPr>
          <p:cNvCxnSpPr>
            <a:cxnSpLocks/>
          </p:cNvCxnSpPr>
          <p:nvPr/>
        </p:nvCxnSpPr>
        <p:spPr>
          <a:xfrm>
            <a:off x="9042939" y="3555462"/>
            <a:ext cx="0" cy="11394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/>
              <p:nvPr/>
            </p:nvSpPr>
            <p:spPr>
              <a:xfrm>
                <a:off x="6474794" y="5217560"/>
                <a:ext cx="57172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=(−1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1+3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.(−2)=1.(−2)=−2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5F714E0-F511-4295-887C-36ABAD1C5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794" y="5217560"/>
                <a:ext cx="5717206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A4A96D-8478-476B-82D8-4D95EE5871EB}"/>
                  </a:ext>
                </a:extLst>
              </p:cNvPr>
              <p:cNvSpPr txBox="1"/>
              <p:nvPr/>
            </p:nvSpPr>
            <p:spPr>
              <a:xfrm>
                <a:off x="548639" y="5689532"/>
                <a:ext cx="432766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=1.6+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−8)+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EA4A96D-8478-476B-82D8-4D95EE587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5689532"/>
                <a:ext cx="432766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8874CA7-3557-4848-9970-B9887EE2DD8E}"/>
                  </a:ext>
                </a:extLst>
              </p:cNvPr>
              <p:cNvSpPr txBox="1"/>
              <p:nvPr/>
            </p:nvSpPr>
            <p:spPr>
              <a:xfrm>
                <a:off x="548639" y="6252961"/>
                <a:ext cx="1473224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=−22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8874CA7-3557-4848-9970-B9887EE2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6252961"/>
                <a:ext cx="1473224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462BB18-E7D4-463B-86A5-73B433F8AC20}"/>
                  </a:ext>
                </a:extLst>
              </p:cNvPr>
              <p:cNvSpPr txBox="1"/>
              <p:nvPr/>
            </p:nvSpPr>
            <p:spPr>
              <a:xfrm>
                <a:off x="9305820" y="3879652"/>
                <a:ext cx="27527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=4.1−2.3=−2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462BB18-E7D4-463B-86A5-73B433F8A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820" y="3879652"/>
                <a:ext cx="275274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 17">
            <a:extLst>
              <a:ext uri="{FF2B5EF4-FFF2-40B4-BE49-F238E27FC236}">
                <a16:creationId xmlns:a16="http://schemas.microsoft.com/office/drawing/2014/main" id="{87357F62-207D-4ED5-92B8-AD9A8351F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416741"/>
            <a:ext cx="112822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Determinantes de qualquer matriz quadrada</a:t>
            </a:r>
          </a:p>
        </p:txBody>
      </p:sp>
    </p:spTree>
    <p:extLst>
      <p:ext uri="{BB962C8B-B14F-4D97-AF65-F5344CB8AC3E}">
        <p14:creationId xmlns:p14="http://schemas.microsoft.com/office/powerpoint/2010/main" val="110665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14" grpId="0"/>
      <p:bldP spid="15" grpId="0" animBg="1"/>
      <p:bldP spid="16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9785</TotalTime>
  <Words>407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692</cp:revision>
  <dcterms:created xsi:type="dcterms:W3CDTF">2020-11-26T18:44:25Z</dcterms:created>
  <dcterms:modified xsi:type="dcterms:W3CDTF">2021-08-03T22:38:10Z</dcterms:modified>
</cp:coreProperties>
</file>