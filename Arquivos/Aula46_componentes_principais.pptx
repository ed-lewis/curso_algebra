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22" r:id="rId2"/>
    <p:sldId id="536" r:id="rId3"/>
    <p:sldId id="518" r:id="rId4"/>
    <p:sldId id="531" r:id="rId5"/>
    <p:sldId id="284" r:id="rId6"/>
    <p:sldId id="277" r:id="rId7"/>
    <p:sldId id="538" r:id="rId8"/>
    <p:sldId id="537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ciano" initials="L" lastIdx="1" clrIdx="0">
    <p:extLst>
      <p:ext uri="{19B8F6BF-5375-455C-9EA6-DF929625EA0E}">
        <p15:presenceInfo xmlns:p15="http://schemas.microsoft.com/office/powerpoint/2012/main" userId="Lucian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A4570-81C0-423A-94B3-0CEBDFB059A9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43B3C-6B56-4DB9-B8C5-7AAFDCBAF5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207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94466-33D4-4291-AEAB-7DF595163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AFC2AE-93AC-4680-8E7C-B02CB197C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154236-9168-49B8-BC9E-CF41B4659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980C4A-8AD4-4FC6-87E9-7CA1E0273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DD231B-0F56-44C4-B2A7-1017698E7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9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9ADD8-0B53-44E3-92A7-75C9F8284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31DEF2-57B0-4E4C-A2FD-A9EDE6335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0D92E1-EF5F-4177-A65B-65AEBAEEC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E87010-2C39-4AEB-833C-16B0EC627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9898AF-588A-4892-968A-ABFE9540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75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E29DB-B9F1-41DF-B604-5533FBFAB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D8C934-FDC0-453A-8B03-CC1845C05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75B5CD-2E6D-4712-80D9-8422C114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22413D-C958-4F78-AA2D-365AF04A2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7B3E4D-6BA3-4415-80D5-E0BCFD12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652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B79B8-5798-415F-BEC8-9449C876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B6D46B-F31B-437E-87AA-879EC0AF6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B5E6E9-120E-4119-AE60-B175FF9EC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C1CA78-AA2E-41D6-960B-5CA60B184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369B28-2C38-4790-901C-7239BAE9D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F6621F-49FD-45A9-9381-8E9B565AE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3068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ACFB2-05E5-469A-A221-C2450C859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4DAA59-8B01-4D64-97B7-10AD559C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3C0BDC-4F4F-487F-8C55-53A0A38A7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A57F3EA-1617-4594-9736-18B1B044F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CA8F34-5316-4F01-A2C0-0FCA26766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5363F45-C4D4-4493-B200-8C67BB651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B3CF5C-3D4B-436D-B1A6-32BA1BE32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D19D8B8-B300-4377-B784-45CB3069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529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AE2E9-6B3C-4ABC-9168-0A9FFCEF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F18D2-3152-4968-BE18-2527E67A5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9F55EA-76D4-486C-849A-4A762B56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A22ED98-7ABE-4270-AAD6-645A1E27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621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FDF1FEE-8714-458A-9236-55AB851A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128630-B400-439D-8FD6-7C95A082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60FDC8-5046-4D4E-943D-51AF3235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601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91A1F-51B4-4ABB-AF32-A3634206E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694D5-0149-432D-8B95-6BBAE349C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B68A95-224F-465C-ACEB-E0FFE218A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B8D33D-ED48-4F75-94FB-EB7016472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3D3291-E87E-4E1F-BA75-9AB958BC3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882FF1-8A36-448A-BC6E-EC64D4B6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21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A6073-6014-4043-BE2D-20BCF986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8DE7003-D0E2-45C3-B9E0-5E71D21EB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46E02D-B33F-4063-A944-75D22F25A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FBA53E-5280-4F19-B9EC-13EDF7B0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0BC751-C1C0-4F88-A020-0831D9CB8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D7C60B-9C74-4FEB-90BB-282213C8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974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56574-CF26-47C8-AF0C-B847C3C2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7281DF-1488-4181-96DB-4AFD3564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D7EBF4-DB7E-4E9B-B749-26975E99D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4ACBE3-FF6F-4046-BBFB-4F79F33A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47086A-B25A-44EE-AD4B-E1110441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02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1BA9F9-8E36-4035-A04B-03BBC8982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F3AD45-D5F8-44FD-928C-BF99F8B8B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67D66E-2272-43D1-9940-95CD6F89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7757E6-72B0-469C-A808-56DC2907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CD322F-100D-4FCE-AE9A-92BAA82C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49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33705E-AD18-46DB-9B9E-463034FFB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0CB9AC-6007-4C88-A0E9-4E131A21D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7962D1-C7EF-48E8-80E5-524E61215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5984B-C99F-4A38-A308-4C0AB46BC4AE}" type="datetimeFigureOut">
              <a:rPr lang="pt-BR" smtClean="0"/>
              <a:t>08/08/2021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0CF00F-0B12-4CCE-9938-ACF096888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19F014-1BA4-4394-9471-4FCFAAC66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32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5557BD11-BE61-4B7E-A186-5BABFFC88603}"/>
              </a:ext>
            </a:extLst>
          </p:cNvPr>
          <p:cNvSpPr txBox="1">
            <a:spLocks/>
          </p:cNvSpPr>
          <p:nvPr/>
        </p:nvSpPr>
        <p:spPr>
          <a:xfrm>
            <a:off x="927315" y="5437166"/>
            <a:ext cx="10337369" cy="5360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Prof. Luciano Galdino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5341CB5-B20A-43F7-AD92-D8444021F427}"/>
              </a:ext>
            </a:extLst>
          </p:cNvPr>
          <p:cNvSpPr txBox="1">
            <a:spLocks/>
          </p:cNvSpPr>
          <p:nvPr/>
        </p:nvSpPr>
        <p:spPr>
          <a:xfrm>
            <a:off x="0" y="1612482"/>
            <a:ext cx="12192000" cy="31792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4900" dirty="0"/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Álgebra Linear com Python para </a:t>
            </a:r>
            <a:r>
              <a:rPr lang="pt-BR" sz="49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</a:t>
            </a: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Learning e Modelagem Matemática</a:t>
            </a:r>
            <a:endParaRPr lang="pt-BR" sz="4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5300" b="1" dirty="0"/>
          </a:p>
        </p:txBody>
      </p:sp>
    </p:spTree>
    <p:extLst>
      <p:ext uri="{BB962C8B-B14F-4D97-AF65-F5344CB8AC3E}">
        <p14:creationId xmlns:p14="http://schemas.microsoft.com/office/powerpoint/2010/main" val="4289014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17">
            <a:extLst>
              <a:ext uri="{FF2B5EF4-FFF2-40B4-BE49-F238E27FC236}">
                <a16:creationId xmlns:a16="http://schemas.microsoft.com/office/drawing/2014/main" id="{C3F7B9DE-91BD-4034-9830-CF1B29524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727" y="414133"/>
            <a:ext cx="10818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Análise dos Componentes Principais (PCA)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36104360-B793-4A08-A80E-435984F47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60" y="1555653"/>
            <a:ext cx="1122479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"/>
              </a:spcBef>
              <a:spcAft>
                <a:spcPct val="5000"/>
              </a:spcAft>
            </a:pPr>
            <a:r>
              <a:rPr lang="pt-BR" sz="2800" dirty="0"/>
              <a:t>Técnica estatística que transforma um conjunto de variáveis originais em outro conjunto de variáveis de mesma dimensão, sem serem correlacionadas e que expliquem melhor a variância dos dados. </a:t>
            </a:r>
            <a:endParaRPr lang="pt-BR" altLang="pt-BR" sz="2801" dirty="0"/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04A056C7-763E-468A-98F9-43722F00B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60" y="3332462"/>
            <a:ext cx="1122479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"/>
              </a:spcBef>
              <a:spcAft>
                <a:spcPct val="5000"/>
              </a:spcAft>
            </a:pPr>
            <a:r>
              <a:rPr lang="pt-BR" sz="2800" dirty="0"/>
              <a:t>Cada componente principal é uma combinação linear de todas as variáveis originais.</a:t>
            </a:r>
            <a:endParaRPr lang="pt-BR" altLang="pt-BR" sz="2800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411D02E4-55C6-45D6-8A4B-4B556BEB4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60" y="4977866"/>
            <a:ext cx="1122479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"/>
              </a:spcBef>
              <a:spcAft>
                <a:spcPct val="5000"/>
              </a:spcAft>
            </a:pPr>
            <a:r>
              <a:rPr lang="pt-BR" sz="2800" dirty="0"/>
              <a:t>Pode ser utilizada para geração de índices e agrupamento de indivíduos conforme suas variâncias.</a:t>
            </a:r>
            <a:endParaRPr lang="pt-BR" altLang="pt-BR" sz="2800" dirty="0"/>
          </a:p>
        </p:txBody>
      </p:sp>
    </p:spTree>
    <p:extLst>
      <p:ext uri="{BB962C8B-B14F-4D97-AF65-F5344CB8AC3E}">
        <p14:creationId xmlns:p14="http://schemas.microsoft.com/office/powerpoint/2010/main" val="361263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1">
            <a:extLst>
              <a:ext uri="{FF2B5EF4-FFF2-40B4-BE49-F238E27FC236}">
                <a16:creationId xmlns:a16="http://schemas.microsoft.com/office/drawing/2014/main" id="{04A056C7-763E-468A-98F9-43722F00B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676" y="3429000"/>
            <a:ext cx="11224790" cy="295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"/>
              </a:spcBef>
              <a:spcAft>
                <a:spcPct val="5000"/>
              </a:spcAft>
            </a:pPr>
            <a:r>
              <a:rPr lang="pt-BR" sz="2800" dirty="0">
                <a:cs typeface="Arial" panose="020B0604020202020204" pitchFamily="34" charset="0"/>
              </a:rPr>
              <a:t>É utilizada uma</a:t>
            </a:r>
            <a:r>
              <a:rPr lang="pt-BR" sz="2800" b="0" i="0" dirty="0">
                <a:effectLst/>
                <a:cs typeface="Arial" panose="020B0604020202020204" pitchFamily="34" charset="0"/>
              </a:rPr>
              <a:t> proporção como referência para determinar quais componentes principais explicam a maioria da variabilidade nos dados.</a:t>
            </a:r>
          </a:p>
          <a:p>
            <a:pPr>
              <a:spcBef>
                <a:spcPct val="5000"/>
              </a:spcBef>
              <a:spcAft>
                <a:spcPct val="5000"/>
              </a:spcAft>
            </a:pPr>
            <a:endParaRPr lang="pt-BR" sz="2800" b="0" i="0" dirty="0">
              <a:effectLst/>
              <a:cs typeface="Arial" panose="020B0604020202020204" pitchFamily="34" charset="0"/>
            </a:endParaRPr>
          </a:p>
          <a:p>
            <a:pPr>
              <a:spcBef>
                <a:spcPct val="5000"/>
              </a:spcBef>
              <a:spcAft>
                <a:spcPct val="5000"/>
              </a:spcAft>
            </a:pPr>
            <a:endParaRPr lang="pt-BR" sz="1100" b="0" i="0" dirty="0">
              <a:effectLst/>
              <a:cs typeface="Arial" panose="020B0604020202020204" pitchFamily="34" charset="0"/>
            </a:endParaRPr>
          </a:p>
          <a:p>
            <a:pPr>
              <a:spcBef>
                <a:spcPct val="5000"/>
              </a:spcBef>
              <a:spcAft>
                <a:spcPct val="5000"/>
              </a:spcAft>
            </a:pPr>
            <a:r>
              <a:rPr lang="pt-BR" sz="2800" b="0" i="0" dirty="0">
                <a:effectLst/>
                <a:cs typeface="Arial" panose="020B0604020202020204" pitchFamily="34" charset="0"/>
              </a:rPr>
              <a:t>Quanto maior a proporção, maior a capacidade do componente principal explicar a variabilidade</a:t>
            </a:r>
            <a:r>
              <a:rPr lang="pt-BR" sz="2800" dirty="0">
                <a:cs typeface="Arial" panose="020B0604020202020204" pitchFamily="34" charset="0"/>
              </a:rPr>
              <a:t>.</a:t>
            </a:r>
            <a:endParaRPr lang="pt-BR" altLang="pt-BR" sz="2800" dirty="0">
              <a:cs typeface="Arial" panose="020B0604020202020204" pitchFamily="34" charset="0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E5E64410-F8B5-4D35-872B-9CB5A88E7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676" y="800741"/>
            <a:ext cx="11021423" cy="18158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 componentes principais de um conjunto de dados num espaço multidimensional podem ser determinados pelos 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autovetores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matriz de covariância 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dos dados, os quais representam as variâncias dos componentes principais </a:t>
            </a:r>
          </a:p>
        </p:txBody>
      </p:sp>
    </p:spTree>
    <p:extLst>
      <p:ext uri="{BB962C8B-B14F-4D97-AF65-F5344CB8AC3E}">
        <p14:creationId xmlns:p14="http://schemas.microsoft.com/office/powerpoint/2010/main" val="269949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1">
            <a:extLst>
              <a:ext uri="{FF2B5EF4-FFF2-40B4-BE49-F238E27FC236}">
                <a16:creationId xmlns:a16="http://schemas.microsoft.com/office/drawing/2014/main" id="{2C414934-AC0A-4BAC-B075-BC2EA8009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5563" y="637732"/>
            <a:ext cx="3947673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b="1" dirty="0"/>
              <a:t>Matriz de Covariância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D8CA2CE-DD0C-40FB-B1C5-B5F7512AA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46" y="1687627"/>
            <a:ext cx="9140897" cy="356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78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F7929F3D-F320-4467-B30A-DF5C3BD75C3D}"/>
              </a:ext>
            </a:extLst>
          </p:cNvPr>
          <p:cNvSpPr txBox="1">
            <a:spLocks/>
          </p:cNvSpPr>
          <p:nvPr/>
        </p:nvSpPr>
        <p:spPr>
          <a:xfrm>
            <a:off x="644529" y="429065"/>
            <a:ext cx="5346700" cy="595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3600" b="1" dirty="0"/>
              <a:t>Variância</a:t>
            </a:r>
          </a:p>
        </p:txBody>
      </p:sp>
      <p:graphicFrame>
        <p:nvGraphicFramePr>
          <p:cNvPr id="10" name="Tabela 2">
            <a:extLst>
              <a:ext uri="{FF2B5EF4-FFF2-40B4-BE49-F238E27FC236}">
                <a16:creationId xmlns:a16="http://schemas.microsoft.com/office/drawing/2014/main" id="{2A612041-C1BC-4ED2-BC24-613461E639B5}"/>
              </a:ext>
            </a:extLst>
          </p:cNvPr>
          <p:cNvGraphicFramePr>
            <a:graphicFrameLocks noGrp="1"/>
          </p:cNvGraphicFramePr>
          <p:nvPr/>
        </p:nvGraphicFramePr>
        <p:xfrm>
          <a:off x="6407923" y="429065"/>
          <a:ext cx="5136377" cy="5625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033">
                  <a:extLst>
                    <a:ext uri="{9D8B030D-6E8A-4147-A177-3AD203B41FA5}">
                      <a16:colId xmlns:a16="http://schemas.microsoft.com/office/drawing/2014/main" val="1678868763"/>
                    </a:ext>
                  </a:extLst>
                </a:gridCol>
                <a:gridCol w="2082019">
                  <a:extLst>
                    <a:ext uri="{9D8B030D-6E8A-4147-A177-3AD203B41FA5}">
                      <a16:colId xmlns:a16="http://schemas.microsoft.com/office/drawing/2014/main" val="4155329759"/>
                    </a:ext>
                  </a:extLst>
                </a:gridCol>
                <a:gridCol w="1730325">
                  <a:extLst>
                    <a:ext uri="{9D8B030D-6E8A-4147-A177-3AD203B41FA5}">
                      <a16:colId xmlns:a16="http://schemas.microsoft.com/office/drawing/2014/main" val="2741317311"/>
                    </a:ext>
                  </a:extLst>
                </a:gridCol>
              </a:tblGrid>
              <a:tr h="45755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Valores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Desvio (x - µ)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(x - µ)</a:t>
                      </a:r>
                      <a:r>
                        <a:rPr lang="pt-BR" sz="2400" baseline="30000" dirty="0"/>
                        <a:t>2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080219"/>
                  </a:ext>
                </a:extLst>
              </a:tr>
              <a:tr h="45755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-0,5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0,25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063275"/>
                  </a:ext>
                </a:extLst>
              </a:tr>
              <a:tr h="45755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-3,5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12,25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711826"/>
                  </a:ext>
                </a:extLst>
              </a:tr>
              <a:tr h="45755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-2,5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6,25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781198"/>
                  </a:ext>
                </a:extLst>
              </a:tr>
              <a:tr h="45755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12,25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294123"/>
                  </a:ext>
                </a:extLst>
              </a:tr>
              <a:tr h="45755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30,25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122369"/>
                  </a:ext>
                </a:extLst>
              </a:tr>
              <a:tr h="45755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-0,5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0,25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762350"/>
                  </a:ext>
                </a:extLst>
              </a:tr>
              <a:tr h="45755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6,25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165178"/>
                  </a:ext>
                </a:extLst>
              </a:tr>
              <a:tr h="45755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-0,5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0,25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866382"/>
                  </a:ext>
                </a:extLst>
              </a:tr>
              <a:tr h="45755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-4,5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20,25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787767"/>
                  </a:ext>
                </a:extLst>
              </a:tr>
              <a:tr h="45755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0,25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593673"/>
                  </a:ext>
                </a:extLst>
              </a:tr>
              <a:tr h="592865">
                <a:tc>
                  <a:txBody>
                    <a:bodyPr/>
                    <a:lstStyle/>
                    <a:p>
                      <a:pPr algn="ctr"/>
                      <a:r>
                        <a:rPr lang="el-GR" sz="2400" dirty="0"/>
                        <a:t>Σ</a:t>
                      </a:r>
                      <a:r>
                        <a:rPr lang="pt-BR" sz="2400" dirty="0"/>
                        <a:t> x = 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2400" dirty="0"/>
                        <a:t>Σ</a:t>
                      </a:r>
                      <a:r>
                        <a:rPr lang="pt-BR" sz="2400" dirty="0"/>
                        <a:t> (x-µ)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2400" dirty="0"/>
                        <a:t>Σ</a:t>
                      </a:r>
                      <a:r>
                        <a:rPr lang="pt-BR" sz="2400" dirty="0"/>
                        <a:t> = 88,5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57985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A67CE2C0-EA9E-4F7B-BFFA-A1F5079B603D}"/>
                  </a:ext>
                </a:extLst>
              </p:cNvPr>
              <p:cNvSpPr txBox="1"/>
              <p:nvPr/>
            </p:nvSpPr>
            <p:spPr>
              <a:xfrm>
                <a:off x="2139765" y="2412757"/>
                <a:ext cx="2502608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A67CE2C0-EA9E-4F7B-BFFA-A1F5079B6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765" y="2412757"/>
                <a:ext cx="2502608" cy="8617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27EFEA6F-71FE-461C-B6EC-3FCFF9025208}"/>
                  </a:ext>
                </a:extLst>
              </p:cNvPr>
              <p:cNvSpPr txBox="1"/>
              <p:nvPr/>
            </p:nvSpPr>
            <p:spPr>
              <a:xfrm>
                <a:off x="2067771" y="3546708"/>
                <a:ext cx="275453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88,5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=8,85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27EFEA6F-71FE-461C-B6EC-3FCFF9025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771" y="3546708"/>
                <a:ext cx="2754537" cy="8182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841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864FE264-1FDC-4211-B248-5D6F40705CFB}"/>
              </a:ext>
            </a:extLst>
          </p:cNvPr>
          <p:cNvSpPr txBox="1">
            <a:spLocks/>
          </p:cNvSpPr>
          <p:nvPr/>
        </p:nvSpPr>
        <p:spPr>
          <a:xfrm>
            <a:off x="577850" y="719382"/>
            <a:ext cx="11036300" cy="1820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3600" b="1" dirty="0"/>
              <a:t>Covariância</a:t>
            </a:r>
          </a:p>
          <a:p>
            <a:pPr marL="0" indent="0" algn="ctr">
              <a:buNone/>
            </a:pPr>
            <a:endParaRPr lang="pt-BR" sz="3600" b="1" dirty="0"/>
          </a:p>
          <a:p>
            <a:pPr marL="0" indent="0">
              <a:buNone/>
            </a:pPr>
            <a:r>
              <a:rPr lang="pt-BR" dirty="0"/>
              <a:t>Medida do grau de interdependência linear entre duas variáveis aleatórias.</a:t>
            </a:r>
          </a:p>
          <a:p>
            <a:pPr marL="0" indent="0">
              <a:buNone/>
            </a:pP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1C68540D-E6E2-401B-BDC1-C80F4691180C}"/>
                  </a:ext>
                </a:extLst>
              </p:cNvPr>
              <p:cNvSpPr txBox="1"/>
              <p:nvPr/>
            </p:nvSpPr>
            <p:spPr>
              <a:xfrm>
                <a:off x="1742444" y="3170541"/>
                <a:ext cx="8586463" cy="9875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).(</m:t>
                          </m:r>
                          <m:sSub>
                            <m:sSub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1C68540D-E6E2-401B-BDC1-C80F46911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444" y="3170541"/>
                <a:ext cx="8586463" cy="9875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74F90CA7-1D16-4DEE-94EA-6AD61670DC0C}"/>
              </a:ext>
            </a:extLst>
          </p:cNvPr>
          <p:cNvSpPr txBox="1">
            <a:spLocks/>
          </p:cNvSpPr>
          <p:nvPr/>
        </p:nvSpPr>
        <p:spPr>
          <a:xfrm>
            <a:off x="577850" y="4788983"/>
            <a:ext cx="10775952" cy="565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pt-BR" dirty="0"/>
              <a:t>n = número de pares que foram comparados.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8701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A0382C0-2839-44C5-AF7A-A2A282FA6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95" y="733823"/>
            <a:ext cx="5614951" cy="539035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D5263D7-D295-44D6-894B-B73930FBF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0" y="733823"/>
            <a:ext cx="5544124" cy="527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627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17">
            <a:extLst>
              <a:ext uri="{FF2B5EF4-FFF2-40B4-BE49-F238E27FC236}">
                <a16:creationId xmlns:a16="http://schemas.microsoft.com/office/drawing/2014/main" id="{C3F7B9DE-91BD-4034-9830-CF1B29524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319" y="225088"/>
            <a:ext cx="108180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2800" b="1" dirty="0"/>
              <a:t>Etapas para Análise dos Componentes Principais (PCA)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36104360-B793-4A08-A80E-435984F47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60" y="978674"/>
            <a:ext cx="11224790" cy="532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indent="-514350">
              <a:spcBef>
                <a:spcPct val="5000"/>
              </a:spcBef>
              <a:spcAft>
                <a:spcPct val="5000"/>
              </a:spcAft>
              <a:buAutoNum type="arabicParenR"/>
            </a:pPr>
            <a:r>
              <a:rPr lang="pt-BR" sz="2800" dirty="0"/>
              <a:t>Organização dos dados.</a:t>
            </a:r>
          </a:p>
          <a:p>
            <a:pPr marL="514350" indent="-514350">
              <a:spcBef>
                <a:spcPct val="5000"/>
              </a:spcBef>
              <a:spcAft>
                <a:spcPct val="5000"/>
              </a:spcAft>
              <a:buAutoNum type="arabicParenR"/>
            </a:pPr>
            <a:endParaRPr lang="pt-BR" sz="1400" dirty="0"/>
          </a:p>
          <a:p>
            <a:pPr marL="514350" indent="-514350">
              <a:spcBef>
                <a:spcPct val="5000"/>
              </a:spcBef>
              <a:spcAft>
                <a:spcPct val="5000"/>
              </a:spcAft>
              <a:buAutoNum type="arabicParenR"/>
            </a:pPr>
            <a:r>
              <a:rPr lang="pt-BR" altLang="pt-BR" sz="2800" dirty="0"/>
              <a:t>Montar a matriz de covariância.</a:t>
            </a:r>
          </a:p>
          <a:p>
            <a:pPr marL="514350" indent="-514350">
              <a:spcBef>
                <a:spcPct val="5000"/>
              </a:spcBef>
              <a:spcAft>
                <a:spcPct val="5000"/>
              </a:spcAft>
              <a:buAutoNum type="arabicParenR"/>
            </a:pPr>
            <a:endParaRPr lang="pt-BR" altLang="pt-BR" sz="1400" dirty="0"/>
          </a:p>
          <a:p>
            <a:pPr marL="514350" indent="-514350">
              <a:spcBef>
                <a:spcPct val="5000"/>
              </a:spcBef>
              <a:spcAft>
                <a:spcPct val="5000"/>
              </a:spcAft>
              <a:buAutoNum type="arabicParenR"/>
            </a:pPr>
            <a:r>
              <a:rPr lang="pt-BR" altLang="pt-BR" sz="2800" dirty="0"/>
              <a:t>Cálculo dos autovetores e autovalores da matriz de covariância (componentes principais mais importantes são os maiores autovalores).</a:t>
            </a:r>
          </a:p>
          <a:p>
            <a:pPr marL="514350" indent="-514350">
              <a:spcBef>
                <a:spcPct val="5000"/>
              </a:spcBef>
              <a:spcAft>
                <a:spcPct val="5000"/>
              </a:spcAft>
              <a:buAutoNum type="arabicParenR"/>
            </a:pPr>
            <a:endParaRPr lang="pt-BR" altLang="pt-BR" sz="1400" dirty="0"/>
          </a:p>
          <a:p>
            <a:pPr marL="514350" indent="-514350">
              <a:spcBef>
                <a:spcPct val="5000"/>
              </a:spcBef>
              <a:spcAft>
                <a:spcPct val="5000"/>
              </a:spcAft>
              <a:buAutoNum type="arabicParenR"/>
            </a:pPr>
            <a:r>
              <a:rPr lang="pt-BR" altLang="pt-BR" sz="2800" dirty="0"/>
              <a:t>Cálculo da taxa de variância explicada (EVR): autovalor dividido pela soma de todos autovalores.</a:t>
            </a:r>
          </a:p>
          <a:p>
            <a:pPr>
              <a:spcBef>
                <a:spcPct val="5000"/>
              </a:spcBef>
              <a:spcAft>
                <a:spcPct val="5000"/>
              </a:spcAft>
            </a:pPr>
            <a:endParaRPr lang="pt-BR" altLang="pt-BR" sz="1400" dirty="0"/>
          </a:p>
          <a:p>
            <a:pPr>
              <a:spcBef>
                <a:spcPct val="5000"/>
              </a:spcBef>
              <a:spcAft>
                <a:spcPct val="5000"/>
              </a:spcAft>
            </a:pPr>
            <a:endParaRPr lang="pt-BR" altLang="pt-BR" sz="1400" dirty="0"/>
          </a:p>
          <a:p>
            <a:pPr>
              <a:spcBef>
                <a:spcPct val="5000"/>
              </a:spcBef>
              <a:spcAft>
                <a:spcPct val="5000"/>
              </a:spcAft>
            </a:pPr>
            <a:r>
              <a:rPr lang="pt-BR" altLang="pt-BR" sz="2800" b="1" dirty="0"/>
              <a:t>Obs.: </a:t>
            </a:r>
            <a:r>
              <a:rPr lang="pt-BR" sz="28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Os autovetores associados ao maior autovalor serão os componentes principais.</a:t>
            </a:r>
            <a:endParaRPr lang="pt-BR" altLang="pt-BR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40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13365</TotalTime>
  <Words>311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Luciano Galdino</dc:creator>
  <cp:lastModifiedBy>Luciano</cp:lastModifiedBy>
  <cp:revision>792</cp:revision>
  <dcterms:created xsi:type="dcterms:W3CDTF">2020-11-26T18:44:25Z</dcterms:created>
  <dcterms:modified xsi:type="dcterms:W3CDTF">2021-08-08T22:31:11Z</dcterms:modified>
</cp:coreProperties>
</file>