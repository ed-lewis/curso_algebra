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22" r:id="rId2"/>
    <p:sldId id="343" r:id="rId3"/>
    <p:sldId id="523" r:id="rId4"/>
    <p:sldId id="341" r:id="rId5"/>
    <p:sldId id="342" r:id="rId6"/>
    <p:sldId id="502" r:id="rId7"/>
    <p:sldId id="504" r:id="rId8"/>
    <p:sldId id="505" r:id="rId9"/>
    <p:sldId id="50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1">
            <a:extLst>
              <a:ext uri="{FF2B5EF4-FFF2-40B4-BE49-F238E27FC236}">
                <a16:creationId xmlns:a16="http://schemas.microsoft.com/office/drawing/2014/main" id="{0FDA7C42-6788-4F12-AE72-B08C3385B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355" y="586395"/>
            <a:ext cx="48264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3200" b="1" dirty="0"/>
              <a:t>Decomposição vetorial</a:t>
            </a:r>
            <a:endParaRPr lang="pt-BR" altLang="pt-BR" sz="3200" dirty="0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30DBF6BF-1161-459E-B24F-3E8A3A5AD5A7}"/>
              </a:ext>
            </a:extLst>
          </p:cNvPr>
          <p:cNvCxnSpPr>
            <a:cxnSpLocks/>
          </p:cNvCxnSpPr>
          <p:nvPr/>
        </p:nvCxnSpPr>
        <p:spPr bwMode="auto">
          <a:xfrm flipV="1">
            <a:off x="1777210" y="2236763"/>
            <a:ext cx="0" cy="294927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578AEA96-1907-44DD-A9E4-E1BD28E4C8D4}"/>
              </a:ext>
            </a:extLst>
          </p:cNvPr>
          <p:cNvCxnSpPr>
            <a:cxnSpLocks/>
          </p:cNvCxnSpPr>
          <p:nvPr/>
        </p:nvCxnSpPr>
        <p:spPr>
          <a:xfrm>
            <a:off x="1575593" y="4979963"/>
            <a:ext cx="400929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A3738DCD-9DE4-4750-88AE-D17393F85D99}"/>
              </a:ext>
            </a:extLst>
          </p:cNvPr>
          <p:cNvCxnSpPr>
            <a:cxnSpLocks/>
          </p:cNvCxnSpPr>
          <p:nvPr/>
        </p:nvCxnSpPr>
        <p:spPr>
          <a:xfrm flipV="1">
            <a:off x="1777210" y="3711401"/>
            <a:ext cx="2301156" cy="1268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F4BCBFAB-49B4-401D-B31D-E40D9139A6DB}"/>
              </a:ext>
            </a:extLst>
          </p:cNvPr>
          <p:cNvSpPr/>
          <p:nvPr/>
        </p:nvSpPr>
        <p:spPr>
          <a:xfrm>
            <a:off x="1777210" y="3711400"/>
            <a:ext cx="2301145" cy="12685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68B9E5AB-A541-4F96-9B09-43E091EBB2E3}"/>
              </a:ext>
            </a:extLst>
          </p:cNvPr>
          <p:cNvCxnSpPr>
            <a:cxnSpLocks/>
          </p:cNvCxnSpPr>
          <p:nvPr/>
        </p:nvCxnSpPr>
        <p:spPr>
          <a:xfrm flipV="1">
            <a:off x="1777210" y="3711400"/>
            <a:ext cx="0" cy="12685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53CFF80-EB3D-4F64-B963-64CF886968ED}"/>
              </a:ext>
            </a:extLst>
          </p:cNvPr>
          <p:cNvCxnSpPr>
            <a:cxnSpLocks/>
          </p:cNvCxnSpPr>
          <p:nvPr/>
        </p:nvCxnSpPr>
        <p:spPr>
          <a:xfrm>
            <a:off x="1777210" y="4979963"/>
            <a:ext cx="230114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6C586DD-46C0-4D30-8BF4-8F884EC1A849}"/>
              </a:ext>
            </a:extLst>
          </p:cNvPr>
          <p:cNvSpPr txBox="1"/>
          <p:nvPr/>
        </p:nvSpPr>
        <p:spPr>
          <a:xfrm>
            <a:off x="1345811" y="1944375"/>
            <a:ext cx="661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y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EBECB07-1D29-4031-8EB6-48B1984C6F0D}"/>
              </a:ext>
            </a:extLst>
          </p:cNvPr>
          <p:cNvSpPr txBox="1"/>
          <p:nvPr/>
        </p:nvSpPr>
        <p:spPr>
          <a:xfrm>
            <a:off x="5196324" y="4979963"/>
            <a:ext cx="661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C5BB97E1-759E-4037-86DE-2E583222FB1F}"/>
                  </a:ext>
                </a:extLst>
              </p:cNvPr>
              <p:cNvSpPr txBox="1"/>
              <p:nvPr/>
            </p:nvSpPr>
            <p:spPr>
              <a:xfrm>
                <a:off x="2610195" y="3921548"/>
                <a:ext cx="317587" cy="483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2" name="CaixaDeTexto 21">
                <a:extLst>
                  <a:ext uri="{FF2B5EF4-FFF2-40B4-BE49-F238E27FC236}">
                    <a16:creationId xmlns:a16="http://schemas.microsoft.com/office/drawing/2014/main" id="{C5BB97E1-759E-4037-86DE-2E583222F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95" y="3921548"/>
                <a:ext cx="317587" cy="4831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8CB58E4-75D6-40DC-88F7-4F413959BDBF}"/>
                  </a:ext>
                </a:extLst>
              </p:cNvPr>
              <p:cNvSpPr txBox="1"/>
              <p:nvPr/>
            </p:nvSpPr>
            <p:spPr>
              <a:xfrm>
                <a:off x="1379060" y="4104108"/>
                <a:ext cx="410048" cy="527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8CB58E4-75D6-40DC-88F7-4F413959B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60" y="4104108"/>
                <a:ext cx="410048" cy="5270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A736DB7-9790-44E6-8BC1-99E9986B8919}"/>
                  </a:ext>
                </a:extLst>
              </p:cNvPr>
              <p:cNvSpPr txBox="1"/>
              <p:nvPr/>
            </p:nvSpPr>
            <p:spPr>
              <a:xfrm>
                <a:off x="2768988" y="5016897"/>
                <a:ext cx="399468" cy="483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9A736DB7-9790-44E6-8BC1-99E9986B8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8" y="5016897"/>
                <a:ext cx="399468" cy="4831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0ECB61E7-132F-4F91-ABD0-37F24F9472E7}"/>
                  </a:ext>
                </a:extLst>
              </p:cNvPr>
              <p:cNvSpPr txBox="1"/>
              <p:nvPr/>
            </p:nvSpPr>
            <p:spPr>
              <a:xfrm>
                <a:off x="2407040" y="4539114"/>
                <a:ext cx="30745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0ECB61E7-132F-4F91-ABD0-37F24F947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040" y="4539114"/>
                <a:ext cx="30745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FF28F65-8080-4303-8C08-54B2F3979D2D}"/>
                  </a:ext>
                </a:extLst>
              </p:cNvPr>
              <p:cNvSpPr txBox="1"/>
              <p:nvPr/>
            </p:nvSpPr>
            <p:spPr>
              <a:xfrm>
                <a:off x="6937844" y="1689178"/>
                <a:ext cx="2231060" cy="474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AFF28F65-8080-4303-8C08-54B2F3979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844" y="1689178"/>
                <a:ext cx="2231060" cy="474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55445C0A-9B78-4D3D-9AAF-3AB060551209}"/>
                  </a:ext>
                </a:extLst>
              </p:cNvPr>
              <p:cNvSpPr txBox="1"/>
              <p:nvPr/>
            </p:nvSpPr>
            <p:spPr>
              <a:xfrm>
                <a:off x="6951913" y="3429000"/>
                <a:ext cx="198278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55445C0A-9B78-4D3D-9AAF-3AB060551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913" y="3429000"/>
                <a:ext cx="1982786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2E254A12-06AA-4B05-AF8B-B83BB81DE877}"/>
                  </a:ext>
                </a:extLst>
              </p:cNvPr>
              <p:cNvSpPr txBox="1"/>
              <p:nvPr/>
            </p:nvSpPr>
            <p:spPr>
              <a:xfrm>
                <a:off x="6957561" y="5258469"/>
                <a:ext cx="2022220" cy="4648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2E254A12-06AA-4B05-AF8B-B83BB81DE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61" y="5258469"/>
                <a:ext cx="2022220" cy="4648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aixaDeTexto 31">
            <a:extLst>
              <a:ext uri="{FF2B5EF4-FFF2-40B4-BE49-F238E27FC236}">
                <a16:creationId xmlns:a16="http://schemas.microsoft.com/office/drawing/2014/main" id="{DDBD0FE3-3554-4F5A-86D9-51A75907F33C}"/>
              </a:ext>
            </a:extLst>
          </p:cNvPr>
          <p:cNvSpPr txBox="1"/>
          <p:nvPr/>
        </p:nvSpPr>
        <p:spPr>
          <a:xfrm>
            <a:off x="3851802" y="4966082"/>
            <a:ext cx="661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A4FF72A-1F24-414B-BC6A-1B4EF4F1EDFF}"/>
              </a:ext>
            </a:extLst>
          </p:cNvPr>
          <p:cNvSpPr txBox="1"/>
          <p:nvPr/>
        </p:nvSpPr>
        <p:spPr>
          <a:xfrm>
            <a:off x="1339847" y="3382079"/>
            <a:ext cx="661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831913C-3B9C-4313-9C6A-A2A05A3042E8}"/>
              </a:ext>
            </a:extLst>
          </p:cNvPr>
          <p:cNvSpPr txBox="1"/>
          <p:nvPr/>
        </p:nvSpPr>
        <p:spPr>
          <a:xfrm>
            <a:off x="3851802" y="3156806"/>
            <a:ext cx="17819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</a:rPr>
              <a:t>V = (8,6)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B35220C8-8482-4022-AABA-5BC83367217F}"/>
                  </a:ext>
                </a:extLst>
              </p:cNvPr>
              <p:cNvSpPr txBox="1"/>
              <p:nvPr/>
            </p:nvSpPr>
            <p:spPr>
              <a:xfrm>
                <a:off x="2632429" y="4589409"/>
                <a:ext cx="12684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6,87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B35220C8-8482-4022-AABA-5BC833672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429" y="4589409"/>
                <a:ext cx="1268424" cy="369332"/>
              </a:xfrm>
              <a:prstGeom prst="rect">
                <a:avLst/>
              </a:prstGeom>
              <a:blipFill>
                <a:blip r:embed="rId9"/>
                <a:stretch>
                  <a:fillRect l="-1923" r="-1923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7A20E709-74D7-41A2-A67F-A0B24CA2FBC7}"/>
                  </a:ext>
                </a:extLst>
              </p:cNvPr>
              <p:cNvSpPr txBox="1"/>
              <p:nvPr/>
            </p:nvSpPr>
            <p:spPr>
              <a:xfrm>
                <a:off x="6957561" y="2436182"/>
                <a:ext cx="298427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7A20E709-74D7-41A2-A67F-A0B24CA2F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61" y="2436182"/>
                <a:ext cx="2984278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7FE4223A-07BD-448C-A9CD-066348E37407}"/>
                  </a:ext>
                </a:extLst>
              </p:cNvPr>
              <p:cNvSpPr txBox="1"/>
              <p:nvPr/>
            </p:nvSpPr>
            <p:spPr>
              <a:xfrm>
                <a:off x="6949471" y="4129933"/>
                <a:ext cx="34536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36,87=8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7FE4223A-07BD-448C-A9CD-066348E37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471" y="4129933"/>
                <a:ext cx="3453638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3D92007-DF23-443E-A48A-F96C5CF92ED4}"/>
                  </a:ext>
                </a:extLst>
              </p:cNvPr>
              <p:cNvSpPr txBox="1"/>
              <p:nvPr/>
            </p:nvSpPr>
            <p:spPr>
              <a:xfrm>
                <a:off x="6957561" y="5956118"/>
                <a:ext cx="3493072" cy="4648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𝑠𝑒𝑛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36,87=6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53D92007-DF23-443E-A48A-F96C5CF92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561" y="5956118"/>
                <a:ext cx="3493072" cy="4648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  <p:bldP spid="17" grpId="0"/>
      <p:bldP spid="25" grpId="0"/>
      <p:bldP spid="26" grpId="0"/>
      <p:bldP spid="27" grpId="0"/>
      <p:bldP spid="23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600" b="1" dirty="0"/>
              <a:t>Vetores Tridimensionais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F1E2BEF-850F-4D88-B96D-8B3E1B7E5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37" y="1362808"/>
            <a:ext cx="557212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41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tângulo 17">
            <a:extLst>
              <a:ext uri="{FF2B5EF4-FFF2-40B4-BE49-F238E27FC236}">
                <a16:creationId xmlns:a16="http://schemas.microsoft.com/office/drawing/2014/main" id="{C67C9C5B-A660-4983-8E19-96205E6F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72" y="604833"/>
            <a:ext cx="108180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3600" b="1" dirty="0"/>
              <a:t>Vetores no </a:t>
            </a:r>
            <a:r>
              <a:rPr lang="pt-BR" altLang="pt-BR" sz="3600" b="1" dirty="0" err="1"/>
              <a:t>R</a:t>
            </a:r>
            <a:r>
              <a:rPr lang="pt-BR" altLang="pt-BR" sz="3600" b="1" baseline="30000" dirty="0" err="1"/>
              <a:t>n</a:t>
            </a:r>
            <a:endParaRPr lang="pt-BR" altLang="pt-BR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8023B72-823B-4BA0-A2E0-26ADD49399CA}"/>
                  </a:ext>
                </a:extLst>
              </p:cNvPr>
              <p:cNvSpPr txBox="1"/>
              <p:nvPr/>
            </p:nvSpPr>
            <p:spPr>
              <a:xfrm>
                <a:off x="4133924" y="2025747"/>
                <a:ext cx="39241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68023B72-823B-4BA0-A2E0-26ADD4939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924" y="2025747"/>
                <a:ext cx="392415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322C603-2798-48FF-9A16-CABFD5338F43}"/>
              </a:ext>
            </a:extLst>
          </p:cNvPr>
          <p:cNvSpPr txBox="1"/>
          <p:nvPr/>
        </p:nvSpPr>
        <p:spPr>
          <a:xfrm>
            <a:off x="1953431" y="3199812"/>
            <a:ext cx="1899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Vetor do </a:t>
            </a:r>
            <a:r>
              <a:rPr lang="pt-BR" sz="2800" dirty="0" err="1"/>
              <a:t>R</a:t>
            </a:r>
            <a:r>
              <a:rPr lang="pt-BR" sz="2800" baseline="30000" dirty="0" err="1"/>
              <a:t>n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7A7F4B-5AA4-425B-BA45-75996E288513}"/>
              </a:ext>
            </a:extLst>
          </p:cNvPr>
          <p:cNvSpPr txBox="1"/>
          <p:nvPr/>
        </p:nvSpPr>
        <p:spPr>
          <a:xfrm>
            <a:off x="6206037" y="3234393"/>
            <a:ext cx="2583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Componentes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4EB3812-7290-4A09-92B3-F13902470E8D}"/>
              </a:ext>
            </a:extLst>
          </p:cNvPr>
          <p:cNvCxnSpPr>
            <a:stCxn id="3" idx="0"/>
            <a:endCxn id="2" idx="1"/>
          </p:cNvCxnSpPr>
          <p:nvPr/>
        </p:nvCxnSpPr>
        <p:spPr>
          <a:xfrm flipV="1">
            <a:off x="2903001" y="2377440"/>
            <a:ext cx="1230923" cy="822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E9A8B9D-7E8A-4197-9BDC-EE8D38064779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6206037" y="2552771"/>
            <a:ext cx="1291884" cy="6816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A699FACE-B843-4975-B511-28D0DBFA401D}"/>
                  </a:ext>
                </a:extLst>
              </p:cNvPr>
              <p:cNvSpPr txBox="1"/>
              <p:nvPr/>
            </p:nvSpPr>
            <p:spPr>
              <a:xfrm>
                <a:off x="5000250" y="4158432"/>
                <a:ext cx="24976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=(−2, 5, 8)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A699FACE-B843-4975-B511-28D0DBFA4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250" y="4158432"/>
                <a:ext cx="249767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3765CE-9E55-4014-82C7-8034FD9CB0B5}"/>
              </a:ext>
            </a:extLst>
          </p:cNvPr>
          <p:cNvSpPr txBox="1"/>
          <p:nvPr/>
        </p:nvSpPr>
        <p:spPr>
          <a:xfrm>
            <a:off x="2568892" y="5148460"/>
            <a:ext cx="1899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Vetor do R</a:t>
            </a:r>
            <a:r>
              <a:rPr lang="pt-BR" sz="2800" baseline="30000" dirty="0"/>
              <a:t>3</a:t>
            </a:r>
            <a:endParaRPr lang="pt-BR" sz="2800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366D2AE-2C6E-490F-9627-4B832B264320}"/>
              </a:ext>
            </a:extLst>
          </p:cNvPr>
          <p:cNvCxnSpPr>
            <a:stCxn id="12" idx="0"/>
            <a:endCxn id="11" idx="1"/>
          </p:cNvCxnSpPr>
          <p:nvPr/>
        </p:nvCxnSpPr>
        <p:spPr>
          <a:xfrm flipV="1">
            <a:off x="3518462" y="4404654"/>
            <a:ext cx="1481788" cy="7438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6" name="Rectangle 11">
            <a:extLst>
              <a:ext uri="{FF2B5EF4-FFF2-40B4-BE49-F238E27FC236}">
                <a16:creationId xmlns:a16="http://schemas.microsoft.com/office/drawing/2014/main" id="{105C881E-9FE9-4B89-8EA9-D762093A8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706" y="489410"/>
            <a:ext cx="825058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Adição de vetores</a:t>
            </a:r>
            <a:endParaRPr lang="pt-BR" altLang="pt-BR" sz="2801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DEDC18-4721-4421-B66F-4B60C7A162C5}"/>
              </a:ext>
            </a:extLst>
          </p:cNvPr>
          <p:cNvSpPr/>
          <p:nvPr/>
        </p:nvSpPr>
        <p:spPr>
          <a:xfrm>
            <a:off x="6096000" y="1231720"/>
            <a:ext cx="1308295" cy="13708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036A18B-3F41-4A38-B1A5-5FE94354912F}"/>
                  </a:ext>
                </a:extLst>
              </p:cNvPr>
              <p:cNvSpPr txBox="1"/>
              <p:nvPr/>
            </p:nvSpPr>
            <p:spPr>
              <a:xfrm>
                <a:off x="2239262" y="1178456"/>
                <a:ext cx="805182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036A18B-3F41-4A38-B1A5-5FE943549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262" y="1178456"/>
                <a:ext cx="8051820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1">
            <a:extLst>
              <a:ext uri="{FF2B5EF4-FFF2-40B4-BE49-F238E27FC236}">
                <a16:creationId xmlns:a16="http://schemas.microsoft.com/office/drawing/2014/main" id="{03FA0BDA-C6AC-4FC4-876C-5E7E70748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631" y="2451994"/>
            <a:ext cx="825058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Produto interno de vetores</a:t>
            </a:r>
            <a:endParaRPr lang="pt-BR" altLang="pt-BR" sz="280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DB78B36-075A-4AA2-BB4B-F08F5A9207A9}"/>
                  </a:ext>
                </a:extLst>
              </p:cNvPr>
              <p:cNvSpPr txBox="1"/>
              <p:nvPr/>
            </p:nvSpPr>
            <p:spPr>
              <a:xfrm>
                <a:off x="2816801" y="3301010"/>
                <a:ext cx="65583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DB78B36-075A-4AA2-BB4B-F08F5A920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801" y="3301010"/>
                <a:ext cx="655839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1">
            <a:extLst>
              <a:ext uri="{FF2B5EF4-FFF2-40B4-BE49-F238E27FC236}">
                <a16:creationId xmlns:a16="http://schemas.microsoft.com/office/drawing/2014/main" id="{983CBAC6-6A6E-4EAF-9B2B-DCCD8EF58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0494" y="4584306"/>
            <a:ext cx="825058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Multiplicação de vetores por escalar</a:t>
            </a:r>
            <a:endParaRPr lang="pt-BR" altLang="pt-BR" sz="280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5D404FBD-1CA7-4BD3-9979-57E964CE58A8}"/>
                  </a:ext>
                </a:extLst>
              </p:cNvPr>
              <p:cNvSpPr txBox="1"/>
              <p:nvPr/>
            </p:nvSpPr>
            <p:spPr>
              <a:xfrm>
                <a:off x="3274323" y="5433322"/>
                <a:ext cx="578293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5D404FBD-1CA7-4BD3-9979-57E964CE5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323" y="5433322"/>
                <a:ext cx="578293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6" name="Rectangle 11">
            <a:extLst>
              <a:ext uri="{FF2B5EF4-FFF2-40B4-BE49-F238E27FC236}">
                <a16:creationId xmlns:a16="http://schemas.microsoft.com/office/drawing/2014/main" id="{105C881E-9FE9-4B89-8EA9-D762093A8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28" y="607555"/>
            <a:ext cx="10888394" cy="2419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Exemplo: </a:t>
            </a:r>
            <a:r>
              <a:rPr lang="pt-BR" altLang="pt-BR" sz="2801" dirty="0"/>
              <a:t>Sejam os vetores u = (2, -4, 1) e v = (3, 2, -5), determine:</a:t>
            </a:r>
          </a:p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endParaRPr lang="pt-BR" altLang="pt-BR" sz="2801" dirty="0"/>
          </a:p>
          <a:p>
            <a:pPr marL="514350" indent="-514350" eaLnBrk="1" hangingPunct="1">
              <a:spcBef>
                <a:spcPct val="5000"/>
              </a:spcBef>
              <a:spcAft>
                <a:spcPct val="5000"/>
              </a:spcAft>
              <a:buAutoNum type="alphaLcParenR"/>
            </a:pPr>
            <a:r>
              <a:rPr lang="pt-BR" altLang="pt-BR" sz="2801" dirty="0" err="1"/>
              <a:t>u+v</a:t>
            </a:r>
            <a:endParaRPr lang="pt-BR" altLang="pt-BR" sz="2801" dirty="0"/>
          </a:p>
          <a:p>
            <a:pPr marL="514350" indent="-514350" eaLnBrk="1" hangingPunct="1">
              <a:spcBef>
                <a:spcPct val="5000"/>
              </a:spcBef>
              <a:spcAft>
                <a:spcPct val="5000"/>
              </a:spcAft>
              <a:buAutoNum type="alphaLcParenR"/>
            </a:pPr>
            <a:r>
              <a:rPr lang="pt-BR" altLang="pt-BR" sz="2801" dirty="0" err="1"/>
              <a:t>u.v</a:t>
            </a:r>
            <a:endParaRPr lang="pt-BR" altLang="pt-BR" sz="2801" dirty="0"/>
          </a:p>
          <a:p>
            <a:pPr marL="514350" indent="-514350" eaLnBrk="1" hangingPunct="1">
              <a:spcBef>
                <a:spcPct val="5000"/>
              </a:spcBef>
              <a:spcAft>
                <a:spcPct val="5000"/>
              </a:spcAft>
              <a:buAutoNum type="alphaLcParenR"/>
            </a:pPr>
            <a:r>
              <a:rPr lang="pt-BR" altLang="pt-BR" sz="2801" dirty="0" err="1"/>
              <a:t>K.v</a:t>
            </a:r>
            <a:r>
              <a:rPr lang="pt-BR" altLang="pt-BR" sz="2801" dirty="0"/>
              <a:t>, onde o escalar k equivale a 5.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EC5E777-2C8E-4164-881F-73E5870A34A4}"/>
                  </a:ext>
                </a:extLst>
              </p:cNvPr>
              <p:cNvSpPr txBox="1"/>
              <p:nvPr/>
            </p:nvSpPr>
            <p:spPr>
              <a:xfrm>
                <a:off x="553328" y="3391021"/>
                <a:ext cx="7896777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2+3, −4+2, 1+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=(5, −2,−4)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EC5E777-2C8E-4164-881F-73E5870A3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" y="3391021"/>
                <a:ext cx="7896777" cy="4863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A02D7E42-F2D2-44C5-885D-AC588F29FB02}"/>
                  </a:ext>
                </a:extLst>
              </p:cNvPr>
              <p:cNvSpPr txBox="1"/>
              <p:nvPr/>
            </p:nvSpPr>
            <p:spPr>
              <a:xfrm>
                <a:off x="553328" y="4527525"/>
                <a:ext cx="8525859" cy="486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2.3+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.2+1.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6−8−5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=−7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A02D7E42-F2D2-44C5-885D-AC588F29F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" y="4527525"/>
                <a:ext cx="8525859" cy="486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F8DFB1A-6728-40DA-B45D-08C25A1A2406}"/>
                  </a:ext>
                </a:extLst>
              </p:cNvPr>
              <p:cNvSpPr txBox="1"/>
              <p:nvPr/>
            </p:nvSpPr>
            <p:spPr>
              <a:xfrm>
                <a:off x="553328" y="5664029"/>
                <a:ext cx="57563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=5.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3, 2, −5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15, 10, −25</m:t>
                          </m: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FF8DFB1A-6728-40DA-B45D-08C25A1A2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" y="5664029"/>
                <a:ext cx="575631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15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6" name="Rectangle 11">
            <a:extLst>
              <a:ext uri="{FF2B5EF4-FFF2-40B4-BE49-F238E27FC236}">
                <a16:creationId xmlns:a16="http://schemas.microsoft.com/office/drawing/2014/main" id="{105C881E-9FE9-4B89-8EA9-D762093A8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706" y="644158"/>
            <a:ext cx="825058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Distância no </a:t>
            </a:r>
            <a:r>
              <a:rPr lang="pt-BR" altLang="pt-BR" sz="2801" b="1" dirty="0" err="1"/>
              <a:t>R</a:t>
            </a:r>
            <a:r>
              <a:rPr lang="pt-BR" altLang="pt-BR" sz="2801" b="1" baseline="30000" dirty="0" err="1"/>
              <a:t>n</a:t>
            </a:r>
            <a:endParaRPr lang="pt-BR" altLang="pt-BR" sz="280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036A18B-3F41-4A38-B1A5-5FE94354912F}"/>
                  </a:ext>
                </a:extLst>
              </p:cNvPr>
              <p:cNvSpPr txBox="1"/>
              <p:nvPr/>
            </p:nvSpPr>
            <p:spPr>
              <a:xfrm>
                <a:off x="1831299" y="1614934"/>
                <a:ext cx="8943602" cy="596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sSub>
                            <m:sSub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+…(</m:t>
                          </m:r>
                          <m:sSub>
                            <m:sSub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3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036A18B-3F41-4A38-B1A5-5FE943549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299" y="1614934"/>
                <a:ext cx="8943602" cy="596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1">
            <a:extLst>
              <a:ext uri="{FF2B5EF4-FFF2-40B4-BE49-F238E27FC236}">
                <a16:creationId xmlns:a16="http://schemas.microsoft.com/office/drawing/2014/main" id="{03FA0BDA-C6AC-4FC4-876C-5E7E70748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706" y="3718087"/>
            <a:ext cx="825058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Norma no </a:t>
            </a:r>
            <a:r>
              <a:rPr lang="pt-BR" altLang="pt-BR" sz="2801" b="1" dirty="0" err="1"/>
              <a:t>R</a:t>
            </a:r>
            <a:r>
              <a:rPr lang="pt-BR" altLang="pt-BR" sz="2801" b="1" baseline="30000" dirty="0" err="1"/>
              <a:t>n</a:t>
            </a:r>
            <a:endParaRPr lang="pt-BR" altLang="pt-BR" sz="280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DB78B36-075A-4AA2-BB4B-F08F5A9207A9}"/>
                  </a:ext>
                </a:extLst>
              </p:cNvPr>
              <p:cNvSpPr txBox="1"/>
              <p:nvPr/>
            </p:nvSpPr>
            <p:spPr>
              <a:xfrm>
                <a:off x="2762876" y="4567103"/>
                <a:ext cx="6400342" cy="10021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3DB78B36-075A-4AA2-BB4B-F08F5A920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876" y="4567103"/>
                <a:ext cx="6400342" cy="10021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63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7EF7346-0C5A-4D7B-A4E0-7680A547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02" y="1055076"/>
            <a:ext cx="8186639" cy="472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0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6" name="Rectangle 11">
            <a:extLst>
              <a:ext uri="{FF2B5EF4-FFF2-40B4-BE49-F238E27FC236}">
                <a16:creationId xmlns:a16="http://schemas.microsoft.com/office/drawing/2014/main" id="{105C881E-9FE9-4B89-8EA9-D762093A8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28" y="607555"/>
            <a:ext cx="10888394" cy="1945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r>
              <a:rPr lang="pt-BR" altLang="pt-BR" sz="2801" b="1" dirty="0"/>
              <a:t>Exemplo: </a:t>
            </a:r>
            <a:r>
              <a:rPr lang="pt-BR" altLang="pt-BR" sz="2801" dirty="0"/>
              <a:t>Sejam os vetores u = (2, -4, 1) e v = (3, 2, -5), determine:</a:t>
            </a:r>
          </a:p>
          <a:p>
            <a:pPr eaLnBrk="1" hangingPunct="1">
              <a:spcBef>
                <a:spcPct val="5000"/>
              </a:spcBef>
              <a:spcAft>
                <a:spcPct val="5000"/>
              </a:spcAft>
            </a:pPr>
            <a:endParaRPr lang="pt-BR" altLang="pt-BR" sz="2801" dirty="0"/>
          </a:p>
          <a:p>
            <a:pPr marL="514350" indent="-514350" eaLnBrk="1" hangingPunct="1">
              <a:spcBef>
                <a:spcPct val="5000"/>
              </a:spcBef>
              <a:spcAft>
                <a:spcPct val="5000"/>
              </a:spcAft>
              <a:buAutoNum type="alphaLcParenR"/>
            </a:pPr>
            <a:r>
              <a:rPr lang="pt-BR" altLang="pt-BR" sz="2801" dirty="0"/>
              <a:t>A distância entre u e v</a:t>
            </a:r>
          </a:p>
          <a:p>
            <a:pPr marL="514350" indent="-514350" eaLnBrk="1" hangingPunct="1">
              <a:spcBef>
                <a:spcPct val="5000"/>
              </a:spcBef>
              <a:spcAft>
                <a:spcPct val="5000"/>
              </a:spcAft>
              <a:buAutoNum type="alphaLcParenR"/>
            </a:pPr>
            <a:r>
              <a:rPr lang="pt-BR" altLang="pt-BR" sz="2801" dirty="0"/>
              <a:t>A norma de 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54AC5BE-AEA6-4FCB-86CB-0B23224CCD37}"/>
                  </a:ext>
                </a:extLst>
              </p:cNvPr>
              <p:cNvSpPr txBox="1"/>
              <p:nvPr/>
            </p:nvSpPr>
            <p:spPr>
              <a:xfrm>
                <a:off x="553328" y="3124675"/>
                <a:ext cx="8275791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+…(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54AC5BE-AEA6-4FCB-86CB-0B23224CC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" y="3124675"/>
                <a:ext cx="8275791" cy="5218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9A348D3-2FB6-47C6-871A-2DCB30C5358F}"/>
                  </a:ext>
                </a:extLst>
              </p:cNvPr>
              <p:cNvSpPr txBox="1"/>
              <p:nvPr/>
            </p:nvSpPr>
            <p:spPr>
              <a:xfrm>
                <a:off x="962479" y="3994325"/>
                <a:ext cx="8584530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(2−3</m:t>
                          </m:r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+(−4−2</m:t>
                          </m:r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+(1−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=8,54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9A348D3-2FB6-47C6-871A-2DCB30C53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79" y="3994325"/>
                <a:ext cx="8584530" cy="521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AF1FC2C-0D36-47CB-89EE-E1466649A387}"/>
                  </a:ext>
                </a:extLst>
              </p:cNvPr>
              <p:cNvSpPr txBox="1"/>
              <p:nvPr/>
            </p:nvSpPr>
            <p:spPr>
              <a:xfrm>
                <a:off x="553328" y="4863975"/>
                <a:ext cx="5843716" cy="87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 </m:t>
                      </m:r>
                      <m:d>
                        <m:dPr>
                          <m:begChr m:val="‖"/>
                          <m:endChr m:val="‖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ra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AF1FC2C-0D36-47CB-89EE-E1466649A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" y="4863975"/>
                <a:ext cx="5843716" cy="876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9DBD1CA-9DD3-4A8B-874E-3E0538469F57}"/>
                  </a:ext>
                </a:extLst>
              </p:cNvPr>
              <p:cNvSpPr txBox="1"/>
              <p:nvPr/>
            </p:nvSpPr>
            <p:spPr>
              <a:xfrm>
                <a:off x="1060953" y="5952254"/>
                <a:ext cx="4907177" cy="521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(−4)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=4,58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B9DBD1CA-9DD3-4A8B-874E-3E0538469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53" y="5952254"/>
                <a:ext cx="4907177" cy="521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53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9623</TotalTime>
  <Words>341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675</cp:revision>
  <dcterms:created xsi:type="dcterms:W3CDTF">2020-11-26T18:44:25Z</dcterms:created>
  <dcterms:modified xsi:type="dcterms:W3CDTF">2021-08-01T20:32:26Z</dcterms:modified>
</cp:coreProperties>
</file>