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522" r:id="rId2"/>
    <p:sldId id="341" r:id="rId3"/>
    <p:sldId id="433" r:id="rId4"/>
    <p:sldId id="434" r:id="rId5"/>
    <p:sldId id="436" r:id="rId6"/>
    <p:sldId id="437" r:id="rId7"/>
    <p:sldId id="435" r:id="rId8"/>
    <p:sldId id="438" r:id="rId9"/>
    <p:sldId id="523" r:id="rId10"/>
    <p:sldId id="524" r:id="rId11"/>
    <p:sldId id="52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02/08/2021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82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Matrizes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Conjunto de elementos cuja disposição é dada em </a:t>
            </a:r>
            <a:r>
              <a:rPr lang="pt-BR" altLang="pt-BR" sz="2800" b="1" dirty="0"/>
              <a:t>m</a:t>
            </a:r>
            <a:r>
              <a:rPr lang="pt-BR" altLang="pt-BR" sz="2800" dirty="0"/>
              <a:t> linhas e </a:t>
            </a:r>
            <a:r>
              <a:rPr lang="pt-BR" altLang="pt-BR" sz="2800" b="1" dirty="0"/>
              <a:t>n</a:t>
            </a:r>
            <a:r>
              <a:rPr lang="pt-BR" altLang="pt-BR" sz="2800" dirty="0"/>
              <a:t> colunas.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3390313" y="3070280"/>
                <a:ext cx="2855742" cy="7174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313" y="3070280"/>
                <a:ext cx="2855742" cy="7174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/>
              <p:nvPr/>
            </p:nvSpPr>
            <p:spPr>
              <a:xfrm>
                <a:off x="3934704" y="4427283"/>
                <a:ext cx="1766959" cy="1140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5951934-6050-42D8-B3B6-21A9A313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704" y="4427283"/>
                <a:ext cx="1766959" cy="11405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>
            <a:extLst>
              <a:ext uri="{FF2B5EF4-FFF2-40B4-BE49-F238E27FC236}">
                <a16:creationId xmlns:a16="http://schemas.microsoft.com/office/drawing/2014/main" id="{E63CD68E-A9C4-4EE7-9CBB-94BAB34E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167326"/>
            <a:ext cx="192961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2x2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1D0B01F-6FDF-409A-9B67-D02506CF8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35893"/>
            <a:ext cx="4335194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3x2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880A4FF-3209-4E74-AF7E-F000AE8F2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63" y="3044343"/>
            <a:ext cx="47603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Notação: </a:t>
            </a:r>
            <a:r>
              <a:rPr lang="pt-BR" altLang="pt-BR" sz="3600" dirty="0" err="1"/>
              <a:t>a</a:t>
            </a:r>
            <a:r>
              <a:rPr lang="pt-BR" altLang="pt-BR" sz="3600" baseline="-25000" dirty="0" err="1"/>
              <a:t>ij</a:t>
            </a:r>
            <a:endParaRPr lang="pt-BR" alt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39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 Quadrada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Número de linhas é igual ao número de colunas.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0" y="2710534"/>
                <a:ext cx="2855742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10534"/>
                <a:ext cx="2855742" cy="718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>
            <a:extLst>
              <a:ext uri="{FF2B5EF4-FFF2-40B4-BE49-F238E27FC236}">
                <a16:creationId xmlns:a16="http://schemas.microsoft.com/office/drawing/2014/main" id="{E63CD68E-A9C4-4EE7-9CBB-94BAB34E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5914" y="2815775"/>
            <a:ext cx="6035040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quadrada de ordem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/>
              <p:nvPr/>
            </p:nvSpPr>
            <p:spPr>
              <a:xfrm>
                <a:off x="2855742" y="4249762"/>
                <a:ext cx="2485809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 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742" y="4249762"/>
                <a:ext cx="2485809" cy="1139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1">
            <a:extLst>
              <a:ext uri="{FF2B5EF4-FFF2-40B4-BE49-F238E27FC236}">
                <a16:creationId xmlns:a16="http://schemas.microsoft.com/office/drawing/2014/main" id="{3B06F0A9-446A-4EB0-8E25-022863767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1484" y="4517145"/>
            <a:ext cx="6035040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quadrada de ordem 3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1D2ED31-7393-4F44-8569-F6C736EE825C}"/>
              </a:ext>
            </a:extLst>
          </p:cNvPr>
          <p:cNvCxnSpPr/>
          <p:nvPr/>
        </p:nvCxnSpPr>
        <p:spPr>
          <a:xfrm>
            <a:off x="3207434" y="4389120"/>
            <a:ext cx="2349304" cy="11676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1">
            <a:extLst>
              <a:ext uri="{FF2B5EF4-FFF2-40B4-BE49-F238E27FC236}">
                <a16:creationId xmlns:a16="http://schemas.microsoft.com/office/drawing/2014/main" id="{7A852050-53E1-41D8-B58A-5AF2EA679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738" y="5333090"/>
            <a:ext cx="32355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Diagonal principal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673F62BE-15B7-4DE5-AB45-88A253AB2A45}"/>
              </a:ext>
            </a:extLst>
          </p:cNvPr>
          <p:cNvCxnSpPr>
            <a:cxnSpLocks/>
          </p:cNvCxnSpPr>
          <p:nvPr/>
        </p:nvCxnSpPr>
        <p:spPr>
          <a:xfrm flipH="1">
            <a:off x="2855742" y="4389120"/>
            <a:ext cx="2208628" cy="12197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1">
            <a:extLst>
              <a:ext uri="{FF2B5EF4-FFF2-40B4-BE49-F238E27FC236}">
                <a16:creationId xmlns:a16="http://schemas.microsoft.com/office/drawing/2014/main" id="{6F2E4553-7BBF-4F1D-A570-34F3AB240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366" y="5608905"/>
            <a:ext cx="35591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400" dirty="0">
                <a:solidFill>
                  <a:srgbClr val="FF0000"/>
                </a:solidFill>
              </a:rPr>
              <a:t>Diagonal secundária</a:t>
            </a:r>
          </a:p>
        </p:txBody>
      </p:sp>
    </p:spTree>
    <p:extLst>
      <p:ext uri="{BB962C8B-B14F-4D97-AF65-F5344CB8AC3E}">
        <p14:creationId xmlns:p14="http://schemas.microsoft.com/office/powerpoint/2010/main" val="42748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39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 Linha e Matriz Coluna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Possuem apenas uma linha ou uma coluna.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2316478" y="2648978"/>
                <a:ext cx="285574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78" y="2648978"/>
                <a:ext cx="2855742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>
            <a:extLst>
              <a:ext uri="{FF2B5EF4-FFF2-40B4-BE49-F238E27FC236}">
                <a16:creationId xmlns:a16="http://schemas.microsoft.com/office/drawing/2014/main" id="{E63CD68E-A9C4-4EE7-9CBB-94BAB34E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520" y="2618073"/>
            <a:ext cx="6035040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1x3 (vetor linha)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/>
              <p:nvPr/>
            </p:nvSpPr>
            <p:spPr>
              <a:xfrm>
                <a:off x="3361456" y="4284165"/>
                <a:ext cx="765786" cy="1136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456" y="4284165"/>
                <a:ext cx="765786" cy="1136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1">
            <a:extLst>
              <a:ext uri="{FF2B5EF4-FFF2-40B4-BE49-F238E27FC236}">
                <a16:creationId xmlns:a16="http://schemas.microsoft.com/office/drawing/2014/main" id="{3B06F0A9-446A-4EB0-8E25-022863767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520" y="4590787"/>
            <a:ext cx="6035040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3x1 (vetor coluna)</a:t>
            </a:r>
          </a:p>
        </p:txBody>
      </p:sp>
    </p:spTree>
    <p:extLst>
      <p:ext uri="{BB962C8B-B14F-4D97-AF65-F5344CB8AC3E}">
        <p14:creationId xmlns:p14="http://schemas.microsoft.com/office/powerpoint/2010/main" val="2650754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774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 Nula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Todos os elementos iguais a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4557932" y="3429000"/>
                <a:ext cx="2855742" cy="11737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932" y="3429000"/>
                <a:ext cx="2855742" cy="11737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25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39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 Oposta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Todos os sinais são opostos entre os elementos das matrizes.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2264898" y="2710534"/>
                <a:ext cx="2855742" cy="11737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898" y="2710534"/>
                <a:ext cx="2855742" cy="11737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/>
              <p:nvPr/>
            </p:nvSpPr>
            <p:spPr>
              <a:xfrm>
                <a:off x="2449159" y="4595021"/>
                <a:ext cx="2626360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159" y="4595021"/>
                <a:ext cx="2626360" cy="1139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1">
            <a:extLst>
              <a:ext uri="{FF2B5EF4-FFF2-40B4-BE49-F238E27FC236}">
                <a16:creationId xmlns:a16="http://schemas.microsoft.com/office/drawing/2014/main" id="{3B06F0A9-446A-4EB0-8E25-022863767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988" y="4696972"/>
            <a:ext cx="4532141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oposta de A</a:t>
            </a:r>
          </a:p>
        </p:txBody>
      </p:sp>
    </p:spTree>
    <p:extLst>
      <p:ext uri="{BB962C8B-B14F-4D97-AF65-F5344CB8AC3E}">
        <p14:creationId xmlns:p14="http://schemas.microsoft.com/office/powerpoint/2010/main" val="415748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39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 Transposta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Linhas são transformadas em colunas ordenadamente.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2264898" y="2710534"/>
                <a:ext cx="2855742" cy="11737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898" y="2710534"/>
                <a:ext cx="2855742" cy="11737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>
            <a:extLst>
              <a:ext uri="{FF2B5EF4-FFF2-40B4-BE49-F238E27FC236}">
                <a16:creationId xmlns:a16="http://schemas.microsoft.com/office/drawing/2014/main" id="{E63CD68E-A9C4-4EE7-9CBB-94BAB34E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988" y="2973684"/>
            <a:ext cx="2450123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A 3x2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/>
              <p:nvPr/>
            </p:nvSpPr>
            <p:spPr>
              <a:xfrm>
                <a:off x="2449159" y="4595021"/>
                <a:ext cx="2487219" cy="7272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159" y="4595021"/>
                <a:ext cx="2487219" cy="727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1">
            <a:extLst>
              <a:ext uri="{FF2B5EF4-FFF2-40B4-BE49-F238E27FC236}">
                <a16:creationId xmlns:a16="http://schemas.microsoft.com/office/drawing/2014/main" id="{3B06F0A9-446A-4EB0-8E25-022863767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988" y="4696972"/>
            <a:ext cx="4532141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transposta de A 2x3</a:t>
            </a:r>
          </a:p>
        </p:txBody>
      </p:sp>
    </p:spTree>
    <p:extLst>
      <p:ext uri="{BB962C8B-B14F-4D97-AF65-F5344CB8AC3E}">
        <p14:creationId xmlns:p14="http://schemas.microsoft.com/office/powerpoint/2010/main" val="379189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82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 Identidade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Matriz quadrada cujos elementos da diagonal principal são iguais a 1 e o restante são iguais a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2264898" y="3216973"/>
                <a:ext cx="2855742" cy="113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898" y="3216973"/>
                <a:ext cx="2855742" cy="1139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>
            <a:extLst>
              <a:ext uri="{FF2B5EF4-FFF2-40B4-BE49-F238E27FC236}">
                <a16:creationId xmlns:a16="http://schemas.microsoft.com/office/drawing/2014/main" id="{E63CD68E-A9C4-4EE7-9CBB-94BAB34E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988" y="3480123"/>
            <a:ext cx="5151120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identidade de ordem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/>
              <p:nvPr/>
            </p:nvSpPr>
            <p:spPr>
              <a:xfrm>
                <a:off x="3142458" y="5105852"/>
                <a:ext cx="1100622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458" y="5105852"/>
                <a:ext cx="1100622" cy="7184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1">
            <a:extLst>
              <a:ext uri="{FF2B5EF4-FFF2-40B4-BE49-F238E27FC236}">
                <a16:creationId xmlns:a16="http://schemas.microsoft.com/office/drawing/2014/main" id="{3B06F0A9-446A-4EB0-8E25-022863767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988" y="5203411"/>
            <a:ext cx="5601286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identidade de ordem 2</a:t>
            </a:r>
          </a:p>
        </p:txBody>
      </p:sp>
    </p:spTree>
    <p:extLst>
      <p:ext uri="{BB962C8B-B14F-4D97-AF65-F5344CB8AC3E}">
        <p14:creationId xmlns:p14="http://schemas.microsoft.com/office/powerpoint/2010/main" val="267389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82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 Diagonal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Matriz quadrada cujos elementos da diagonal principal são diferentes de zero e o restante são iguais a zero.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2264898" y="3216973"/>
                <a:ext cx="2855742" cy="113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898" y="3216973"/>
                <a:ext cx="2855742" cy="1139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>
            <a:extLst>
              <a:ext uri="{FF2B5EF4-FFF2-40B4-BE49-F238E27FC236}">
                <a16:creationId xmlns:a16="http://schemas.microsoft.com/office/drawing/2014/main" id="{E63CD68E-A9C4-4EE7-9CBB-94BAB34E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988" y="3480123"/>
            <a:ext cx="5151120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diagonal de ordem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/>
              <p:nvPr/>
            </p:nvSpPr>
            <p:spPr>
              <a:xfrm>
                <a:off x="3142458" y="5105852"/>
                <a:ext cx="1368323" cy="718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E0FC71C4-7996-4698-8B92-F4ADBE02D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458" y="5105852"/>
                <a:ext cx="1368323" cy="7184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11">
            <a:extLst>
              <a:ext uri="{FF2B5EF4-FFF2-40B4-BE49-F238E27FC236}">
                <a16:creationId xmlns:a16="http://schemas.microsoft.com/office/drawing/2014/main" id="{3B06F0A9-446A-4EB0-8E25-022863767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988" y="5203411"/>
            <a:ext cx="5601286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diagonal de ordem 2</a:t>
            </a:r>
          </a:p>
        </p:txBody>
      </p:sp>
    </p:spTree>
    <p:extLst>
      <p:ext uri="{BB962C8B-B14F-4D97-AF65-F5344CB8AC3E}">
        <p14:creationId xmlns:p14="http://schemas.microsoft.com/office/powerpoint/2010/main" val="3699672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82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 Triangular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Elementos acima ou abaixo da diagonal principal preenchidos com zeros.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2264898" y="3216973"/>
                <a:ext cx="2855742" cy="113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898" y="3216973"/>
                <a:ext cx="2855742" cy="1139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>
            <a:extLst>
              <a:ext uri="{FF2B5EF4-FFF2-40B4-BE49-F238E27FC236}">
                <a16:creationId xmlns:a16="http://schemas.microsoft.com/office/drawing/2014/main" id="{E63CD68E-A9C4-4EE7-9CBB-94BAB34E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988" y="3480123"/>
            <a:ext cx="5151120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triangular inferior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3B06F0A9-446A-4EB0-8E25-022863767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988" y="5203411"/>
            <a:ext cx="5601286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dirty="0"/>
              <a:t>Matriz triangular superior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F74E09E-F69D-4A9B-91F1-B282C1F1B312}"/>
                  </a:ext>
                </a:extLst>
              </p:cNvPr>
              <p:cNvSpPr txBox="1"/>
              <p:nvPr/>
            </p:nvSpPr>
            <p:spPr>
              <a:xfrm>
                <a:off x="2264898" y="4895378"/>
                <a:ext cx="2855742" cy="11394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28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F74E09E-F69D-4A9B-91F1-B282C1F1B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898" y="4895378"/>
                <a:ext cx="2855742" cy="1139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B250862-E56E-4089-9110-0F422FF3E623}"/>
              </a:ext>
            </a:extLst>
          </p:cNvPr>
          <p:cNvCxnSpPr/>
          <p:nvPr/>
        </p:nvCxnSpPr>
        <p:spPr>
          <a:xfrm>
            <a:off x="2869809" y="3372728"/>
            <a:ext cx="1561514" cy="9273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D837CE3-0ADD-43B6-A5E6-8F7641D409BD}"/>
              </a:ext>
            </a:extLst>
          </p:cNvPr>
          <p:cNvCxnSpPr/>
          <p:nvPr/>
        </p:nvCxnSpPr>
        <p:spPr>
          <a:xfrm>
            <a:off x="2869809" y="5036234"/>
            <a:ext cx="1659988" cy="9985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59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1825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200" b="1" dirty="0"/>
              <a:t>Matriz Simétrica</a:t>
            </a:r>
          </a:p>
          <a:p>
            <a:pPr eaLnBrk="1" hangingPunct="1"/>
            <a:endParaRPr lang="pt-BR" altLang="pt-BR" sz="2465" b="1" dirty="0"/>
          </a:p>
          <a:p>
            <a:pPr eaLnBrk="1" hangingPunct="1"/>
            <a:r>
              <a:rPr lang="pt-BR" altLang="pt-BR" sz="2800" dirty="0"/>
              <a:t>Ocorre um “espelhamento” na parte superior coma parte inferior à diagonal principal.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/>
              <p:nvPr/>
            </p:nvSpPr>
            <p:spPr>
              <a:xfrm>
                <a:off x="4346916" y="3171107"/>
                <a:ext cx="3376247" cy="1627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pt-BR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pt-BR" sz="4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40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40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pt-BR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pt-BR" sz="4000" b="0" i="1" smtClean="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40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4000" b="0" i="1" smtClean="0">
                                    <a:solidFill>
                                      <a:srgbClr val="FFCC00"/>
                                    </a:solidFill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pt-BR" sz="4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40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819A797-85C3-47BF-B07E-DD46D6C34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916" y="3171107"/>
                <a:ext cx="3376247" cy="16278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D80CBA3-3929-491B-AD41-2D7C80D6697F}"/>
              </a:ext>
            </a:extLst>
          </p:cNvPr>
          <p:cNvCxnSpPr>
            <a:cxnSpLocks/>
          </p:cNvCxnSpPr>
          <p:nvPr/>
        </p:nvCxnSpPr>
        <p:spPr>
          <a:xfrm>
            <a:off x="4783015" y="3291840"/>
            <a:ext cx="2504050" cy="150708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5403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9516</TotalTime>
  <Words>257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675</cp:revision>
  <dcterms:created xsi:type="dcterms:W3CDTF">2020-11-26T18:44:25Z</dcterms:created>
  <dcterms:modified xsi:type="dcterms:W3CDTF">2021-08-02T20:59:55Z</dcterms:modified>
</cp:coreProperties>
</file>